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6" r:id="rId2"/>
    <p:sldId id="275" r:id="rId3"/>
    <p:sldId id="257" r:id="rId4"/>
    <p:sldId id="259" r:id="rId5"/>
    <p:sldId id="260" r:id="rId6"/>
    <p:sldId id="261" r:id="rId7"/>
    <p:sldId id="262" r:id="rId8"/>
    <p:sldId id="263" r:id="rId9"/>
    <p:sldId id="278" r:id="rId10"/>
    <p:sldId id="279" r:id="rId11"/>
    <p:sldId id="280" r:id="rId12"/>
    <p:sldId id="294" r:id="rId13"/>
    <p:sldId id="295" r:id="rId14"/>
    <p:sldId id="264" r:id="rId15"/>
    <p:sldId id="267" r:id="rId16"/>
    <p:sldId id="276" r:id="rId17"/>
    <p:sldId id="265" r:id="rId18"/>
    <p:sldId id="266" r:id="rId19"/>
    <p:sldId id="268" r:id="rId20"/>
    <p:sldId id="293" r:id="rId21"/>
    <p:sldId id="269" r:id="rId22"/>
    <p:sldId id="290" r:id="rId23"/>
    <p:sldId id="289" r:id="rId24"/>
    <p:sldId id="291" r:id="rId25"/>
    <p:sldId id="270" r:id="rId26"/>
    <p:sldId id="286" r:id="rId27"/>
    <p:sldId id="287" r:id="rId28"/>
    <p:sldId id="288" r:id="rId29"/>
    <p:sldId id="271" r:id="rId30"/>
    <p:sldId id="283" r:id="rId31"/>
    <p:sldId id="285" r:id="rId32"/>
    <p:sldId id="282" r:id="rId33"/>
    <p:sldId id="273" r:id="rId34"/>
    <p:sldId id="28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614C69-C04C-4FCB-BC19-D346ED58385D}" v="12" dt="2025-11-13T07:08:29.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28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A25C04A-F2BE-4CF3-A199-889A09A3B58B}" type="doc">
      <dgm:prSet loTypeId="urn:microsoft.com/office/officeart/2005/8/layout/vList2" loCatId="list" qsTypeId="urn:microsoft.com/office/officeart/2005/8/quickstyle/simple5" qsCatId="simple" csTypeId="urn:microsoft.com/office/officeart/2005/8/colors/colorful1" csCatId="colorful"/>
      <dgm:spPr/>
      <dgm:t>
        <a:bodyPr/>
        <a:lstStyle/>
        <a:p>
          <a:endParaRPr lang="en-US"/>
        </a:p>
      </dgm:t>
    </dgm:pt>
    <dgm:pt modelId="{2E7DE8B3-4770-4AB3-A463-FF2EEDDF225B}">
      <dgm:prSet/>
      <dgm:spPr/>
      <dgm:t>
        <a:bodyPr/>
        <a:lstStyle/>
        <a:p>
          <a:r>
            <a:rPr lang="en-US" b="1" dirty="0"/>
            <a:t>The Final Top 10 Ranking: </a:t>
          </a:r>
          <a:endParaRPr lang="en-US" dirty="0"/>
        </a:p>
      </dgm:t>
    </dgm:pt>
    <dgm:pt modelId="{182CE2CE-0F93-487E-AFB5-170E20DCFD06}" type="parTrans" cxnId="{58640DA0-AE90-4E4F-8836-67FBE2D7D080}">
      <dgm:prSet/>
      <dgm:spPr/>
      <dgm:t>
        <a:bodyPr/>
        <a:lstStyle/>
        <a:p>
          <a:endParaRPr lang="en-US"/>
        </a:p>
      </dgm:t>
    </dgm:pt>
    <dgm:pt modelId="{AB1C2FD4-765C-4ECB-A430-F97A0B7307F5}" type="sibTrans" cxnId="{58640DA0-AE90-4E4F-8836-67FBE2D7D080}">
      <dgm:prSet/>
      <dgm:spPr/>
      <dgm:t>
        <a:bodyPr/>
        <a:lstStyle/>
        <a:p>
          <a:endParaRPr lang="en-US"/>
        </a:p>
      </dgm:t>
    </dgm:pt>
    <dgm:pt modelId="{5F672937-1BDF-42D7-9D77-CB942B74B4A2}">
      <dgm:prSet/>
      <dgm:spPr/>
      <dgm:t>
        <a:bodyPr/>
        <a:lstStyle/>
        <a:p>
          <a:r>
            <a:rPr lang="en-US"/>
            <a:t>🥇 </a:t>
          </a:r>
          <a:r>
            <a:rPr lang="en-US" b="1"/>
            <a:t>England</a:t>
          </a:r>
          <a:r>
            <a:rPr lang="en-US"/>
            <a:t> - 1,630 players 🥈 </a:t>
          </a:r>
          <a:r>
            <a:rPr lang="en-US" b="1"/>
            <a:t>Germany</a:t>
          </a:r>
          <a:r>
            <a:rPr lang="en-US"/>
            <a:t> - 1,140 players </a:t>
          </a:r>
        </a:p>
      </dgm:t>
    </dgm:pt>
    <dgm:pt modelId="{05110ABE-510D-4F3C-B91F-F6292DBC190D}" type="parTrans" cxnId="{88B17EBE-F88F-49B1-AC23-379C09E54D37}">
      <dgm:prSet/>
      <dgm:spPr/>
      <dgm:t>
        <a:bodyPr/>
        <a:lstStyle/>
        <a:p>
          <a:endParaRPr lang="en-US"/>
        </a:p>
      </dgm:t>
    </dgm:pt>
    <dgm:pt modelId="{F2E3310C-C048-49B6-AB79-BDE01FD8C41B}" type="sibTrans" cxnId="{88B17EBE-F88F-49B1-AC23-379C09E54D37}">
      <dgm:prSet/>
      <dgm:spPr/>
      <dgm:t>
        <a:bodyPr/>
        <a:lstStyle/>
        <a:p>
          <a:endParaRPr lang="en-US"/>
        </a:p>
      </dgm:t>
    </dgm:pt>
    <dgm:pt modelId="{AF954A4D-BC33-4424-94E0-581D3BA4052E}">
      <dgm:prSet/>
      <dgm:spPr/>
      <dgm:t>
        <a:bodyPr/>
        <a:lstStyle/>
        <a:p>
          <a:r>
            <a:rPr lang="en-US"/>
            <a:t>🥉 </a:t>
          </a:r>
          <a:r>
            <a:rPr lang="en-US" b="1"/>
            <a:t>Spain</a:t>
          </a:r>
          <a:r>
            <a:rPr lang="en-US"/>
            <a:t> - 1,019 players </a:t>
          </a:r>
          <a:r>
            <a:rPr lang="en-US" b="1"/>
            <a:t>France</a:t>
          </a:r>
          <a:r>
            <a:rPr lang="en-US"/>
            <a:t> - 978 players </a:t>
          </a:r>
          <a:r>
            <a:rPr lang="en-US" b="1"/>
            <a:t>Argentina</a:t>
          </a:r>
          <a:r>
            <a:rPr lang="en-US"/>
            <a:t> - 965 players </a:t>
          </a:r>
        </a:p>
      </dgm:t>
    </dgm:pt>
    <dgm:pt modelId="{521E8F03-8341-4686-A1AF-99398DB1C3B0}" type="parTrans" cxnId="{DF569716-854E-4A80-93CA-6E2F65879481}">
      <dgm:prSet/>
      <dgm:spPr/>
      <dgm:t>
        <a:bodyPr/>
        <a:lstStyle/>
        <a:p>
          <a:endParaRPr lang="en-US"/>
        </a:p>
      </dgm:t>
    </dgm:pt>
    <dgm:pt modelId="{CE69E6CC-FE19-483D-B84D-33804AFC8273}" type="sibTrans" cxnId="{DF569716-854E-4A80-93CA-6E2F65879481}">
      <dgm:prSet/>
      <dgm:spPr/>
      <dgm:t>
        <a:bodyPr/>
        <a:lstStyle/>
        <a:p>
          <a:endParaRPr lang="en-US"/>
        </a:p>
      </dgm:t>
    </dgm:pt>
    <dgm:pt modelId="{4A0F56DD-6AD8-4236-9497-A46446F75048}">
      <dgm:prSet/>
      <dgm:spPr/>
      <dgm:t>
        <a:bodyPr/>
        <a:lstStyle/>
        <a:p>
          <a:r>
            <a:rPr lang="en-US" b="1"/>
            <a:t>Brazil</a:t>
          </a:r>
          <a:r>
            <a:rPr lang="en-US"/>
            <a:t> - 812 players </a:t>
          </a:r>
          <a:r>
            <a:rPr lang="en-US" b="1"/>
            <a:t>Italy</a:t>
          </a:r>
          <a:r>
            <a:rPr lang="en-US"/>
            <a:t> - 799 players </a:t>
          </a:r>
          <a:r>
            <a:rPr lang="en-US" b="1"/>
            <a:t>Colombia</a:t>
          </a:r>
          <a:r>
            <a:rPr lang="en-US"/>
            <a:t> - 592 players </a:t>
          </a:r>
          <a:r>
            <a:rPr lang="en-US" b="1"/>
            <a:t>Japan</a:t>
          </a:r>
          <a:r>
            <a:rPr lang="en-US"/>
            <a:t> - 469 players. </a:t>
          </a:r>
          <a:r>
            <a:rPr lang="en-US" b="1"/>
            <a:t>Netherlands</a:t>
          </a:r>
          <a:r>
            <a:rPr lang="en-US"/>
            <a:t> - </a:t>
          </a:r>
        </a:p>
      </dgm:t>
    </dgm:pt>
    <dgm:pt modelId="{3A32D20F-E41E-43BD-AA90-D7E385043530}" type="parTrans" cxnId="{2CA38399-F363-44F0-A114-6BFF6F682BD9}">
      <dgm:prSet/>
      <dgm:spPr/>
      <dgm:t>
        <a:bodyPr/>
        <a:lstStyle/>
        <a:p>
          <a:endParaRPr lang="en-US"/>
        </a:p>
      </dgm:t>
    </dgm:pt>
    <dgm:pt modelId="{739CC93D-6B93-409F-989D-DB5DDBF72443}" type="sibTrans" cxnId="{2CA38399-F363-44F0-A114-6BFF6F682BD9}">
      <dgm:prSet/>
      <dgm:spPr/>
      <dgm:t>
        <a:bodyPr/>
        <a:lstStyle/>
        <a:p>
          <a:endParaRPr lang="en-US"/>
        </a:p>
      </dgm:t>
    </dgm:pt>
    <dgm:pt modelId="{E4D67381-93DE-45B2-864E-6D0112014088}" type="pres">
      <dgm:prSet presAssocID="{2A25C04A-F2BE-4CF3-A199-889A09A3B58B}" presName="linear" presStyleCnt="0">
        <dgm:presLayoutVars>
          <dgm:animLvl val="lvl"/>
          <dgm:resizeHandles val="exact"/>
        </dgm:presLayoutVars>
      </dgm:prSet>
      <dgm:spPr/>
    </dgm:pt>
    <dgm:pt modelId="{B9A05399-6BFB-4B18-8EBF-97B4210C0230}" type="pres">
      <dgm:prSet presAssocID="{2E7DE8B3-4770-4AB3-A463-FF2EEDDF225B}" presName="parentText" presStyleLbl="node1" presStyleIdx="0" presStyleCnt="4">
        <dgm:presLayoutVars>
          <dgm:chMax val="0"/>
          <dgm:bulletEnabled val="1"/>
        </dgm:presLayoutVars>
      </dgm:prSet>
      <dgm:spPr/>
    </dgm:pt>
    <dgm:pt modelId="{9B562626-002C-4733-BDF2-00EB99B66C0C}" type="pres">
      <dgm:prSet presAssocID="{AB1C2FD4-765C-4ECB-A430-F97A0B7307F5}" presName="spacer" presStyleCnt="0"/>
      <dgm:spPr/>
    </dgm:pt>
    <dgm:pt modelId="{E1362EF0-4F46-4D3E-9959-F9AB56564979}" type="pres">
      <dgm:prSet presAssocID="{5F672937-1BDF-42D7-9D77-CB942B74B4A2}" presName="parentText" presStyleLbl="node1" presStyleIdx="1" presStyleCnt="4">
        <dgm:presLayoutVars>
          <dgm:chMax val="0"/>
          <dgm:bulletEnabled val="1"/>
        </dgm:presLayoutVars>
      </dgm:prSet>
      <dgm:spPr/>
    </dgm:pt>
    <dgm:pt modelId="{84EA77FA-CCE5-4BD2-86AA-A1A5761A3D57}" type="pres">
      <dgm:prSet presAssocID="{F2E3310C-C048-49B6-AB79-BDE01FD8C41B}" presName="spacer" presStyleCnt="0"/>
      <dgm:spPr/>
    </dgm:pt>
    <dgm:pt modelId="{AA553B0D-44B1-4139-8FF0-D4347C597A22}" type="pres">
      <dgm:prSet presAssocID="{AF954A4D-BC33-4424-94E0-581D3BA4052E}" presName="parentText" presStyleLbl="node1" presStyleIdx="2" presStyleCnt="4">
        <dgm:presLayoutVars>
          <dgm:chMax val="0"/>
          <dgm:bulletEnabled val="1"/>
        </dgm:presLayoutVars>
      </dgm:prSet>
      <dgm:spPr/>
    </dgm:pt>
    <dgm:pt modelId="{4C3450FE-B65E-485C-B840-5ED01CC6BC05}" type="pres">
      <dgm:prSet presAssocID="{CE69E6CC-FE19-483D-B84D-33804AFC8273}" presName="spacer" presStyleCnt="0"/>
      <dgm:spPr/>
    </dgm:pt>
    <dgm:pt modelId="{559D02DE-A9B8-474B-8E01-3A172459A00C}" type="pres">
      <dgm:prSet presAssocID="{4A0F56DD-6AD8-4236-9497-A46446F75048}" presName="parentText" presStyleLbl="node1" presStyleIdx="3" presStyleCnt="4">
        <dgm:presLayoutVars>
          <dgm:chMax val="0"/>
          <dgm:bulletEnabled val="1"/>
        </dgm:presLayoutVars>
      </dgm:prSet>
      <dgm:spPr/>
    </dgm:pt>
  </dgm:ptLst>
  <dgm:cxnLst>
    <dgm:cxn modelId="{D4A75514-4406-434A-98E4-82A975F085B3}" type="presOf" srcId="{5F672937-1BDF-42D7-9D77-CB942B74B4A2}" destId="{E1362EF0-4F46-4D3E-9959-F9AB56564979}" srcOrd="0" destOrd="0" presId="urn:microsoft.com/office/officeart/2005/8/layout/vList2"/>
    <dgm:cxn modelId="{DF569716-854E-4A80-93CA-6E2F65879481}" srcId="{2A25C04A-F2BE-4CF3-A199-889A09A3B58B}" destId="{AF954A4D-BC33-4424-94E0-581D3BA4052E}" srcOrd="2" destOrd="0" parTransId="{521E8F03-8341-4686-A1AF-99398DB1C3B0}" sibTransId="{CE69E6CC-FE19-483D-B84D-33804AFC8273}"/>
    <dgm:cxn modelId="{447E7B7F-61E3-4FCA-8AF0-B562FB861CE0}" type="presOf" srcId="{2E7DE8B3-4770-4AB3-A463-FF2EEDDF225B}" destId="{B9A05399-6BFB-4B18-8EBF-97B4210C0230}" srcOrd="0" destOrd="0" presId="urn:microsoft.com/office/officeart/2005/8/layout/vList2"/>
    <dgm:cxn modelId="{AA8FE893-E168-486D-BB16-67658106667A}" type="presOf" srcId="{4A0F56DD-6AD8-4236-9497-A46446F75048}" destId="{559D02DE-A9B8-474B-8E01-3A172459A00C}" srcOrd="0" destOrd="0" presId="urn:microsoft.com/office/officeart/2005/8/layout/vList2"/>
    <dgm:cxn modelId="{2CA38399-F363-44F0-A114-6BFF6F682BD9}" srcId="{2A25C04A-F2BE-4CF3-A199-889A09A3B58B}" destId="{4A0F56DD-6AD8-4236-9497-A46446F75048}" srcOrd="3" destOrd="0" parTransId="{3A32D20F-E41E-43BD-AA90-D7E385043530}" sibTransId="{739CC93D-6B93-409F-989D-DB5DDBF72443}"/>
    <dgm:cxn modelId="{58640DA0-AE90-4E4F-8836-67FBE2D7D080}" srcId="{2A25C04A-F2BE-4CF3-A199-889A09A3B58B}" destId="{2E7DE8B3-4770-4AB3-A463-FF2EEDDF225B}" srcOrd="0" destOrd="0" parTransId="{182CE2CE-0F93-487E-AFB5-170E20DCFD06}" sibTransId="{AB1C2FD4-765C-4ECB-A430-F97A0B7307F5}"/>
    <dgm:cxn modelId="{88B17EBE-F88F-49B1-AC23-379C09E54D37}" srcId="{2A25C04A-F2BE-4CF3-A199-889A09A3B58B}" destId="{5F672937-1BDF-42D7-9D77-CB942B74B4A2}" srcOrd="1" destOrd="0" parTransId="{05110ABE-510D-4F3C-B91F-F6292DBC190D}" sibTransId="{F2E3310C-C048-49B6-AB79-BDE01FD8C41B}"/>
    <dgm:cxn modelId="{0AC9B1C2-9F74-45D8-B051-A2DCAC3B9FEF}" type="presOf" srcId="{AF954A4D-BC33-4424-94E0-581D3BA4052E}" destId="{AA553B0D-44B1-4139-8FF0-D4347C597A22}" srcOrd="0" destOrd="0" presId="urn:microsoft.com/office/officeart/2005/8/layout/vList2"/>
    <dgm:cxn modelId="{797029E0-2C4F-4187-80CB-AC09FAC49D56}" type="presOf" srcId="{2A25C04A-F2BE-4CF3-A199-889A09A3B58B}" destId="{E4D67381-93DE-45B2-864E-6D0112014088}" srcOrd="0" destOrd="0" presId="urn:microsoft.com/office/officeart/2005/8/layout/vList2"/>
    <dgm:cxn modelId="{5E874345-1D2D-4A0E-A02B-504C084D7001}" type="presParOf" srcId="{E4D67381-93DE-45B2-864E-6D0112014088}" destId="{B9A05399-6BFB-4B18-8EBF-97B4210C0230}" srcOrd="0" destOrd="0" presId="urn:microsoft.com/office/officeart/2005/8/layout/vList2"/>
    <dgm:cxn modelId="{68AFE6F2-FFF9-492A-B02E-A1870F11EAF0}" type="presParOf" srcId="{E4D67381-93DE-45B2-864E-6D0112014088}" destId="{9B562626-002C-4733-BDF2-00EB99B66C0C}" srcOrd="1" destOrd="0" presId="urn:microsoft.com/office/officeart/2005/8/layout/vList2"/>
    <dgm:cxn modelId="{E0BDF34F-630F-42FB-B91C-0C1F9481F7D4}" type="presParOf" srcId="{E4D67381-93DE-45B2-864E-6D0112014088}" destId="{E1362EF0-4F46-4D3E-9959-F9AB56564979}" srcOrd="2" destOrd="0" presId="urn:microsoft.com/office/officeart/2005/8/layout/vList2"/>
    <dgm:cxn modelId="{1A40666E-FDA2-4CF1-89F2-D56305FE028C}" type="presParOf" srcId="{E4D67381-93DE-45B2-864E-6D0112014088}" destId="{84EA77FA-CCE5-4BD2-86AA-A1A5761A3D57}" srcOrd="3" destOrd="0" presId="urn:microsoft.com/office/officeart/2005/8/layout/vList2"/>
    <dgm:cxn modelId="{D4D24178-DDA5-4B71-BBC9-7096E18EDBF6}" type="presParOf" srcId="{E4D67381-93DE-45B2-864E-6D0112014088}" destId="{AA553B0D-44B1-4139-8FF0-D4347C597A22}" srcOrd="4" destOrd="0" presId="urn:microsoft.com/office/officeart/2005/8/layout/vList2"/>
    <dgm:cxn modelId="{5B8F6B97-105B-4530-9D67-BC387FAF28AC}" type="presParOf" srcId="{E4D67381-93DE-45B2-864E-6D0112014088}" destId="{4C3450FE-B65E-485C-B840-5ED01CC6BC05}" srcOrd="5" destOrd="0" presId="urn:microsoft.com/office/officeart/2005/8/layout/vList2"/>
    <dgm:cxn modelId="{947B900E-A941-4868-904D-DD69556AFA25}" type="presParOf" srcId="{E4D67381-93DE-45B2-864E-6D0112014088}" destId="{559D02DE-A9B8-474B-8E01-3A172459A00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BF304E-0880-44DE-83E1-6D5FEFD8283F}"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F5B9064-B73F-4D00-9117-1FB2F53A0E3F}">
      <dgm:prSet/>
      <dgm:spPr/>
      <dgm:t>
        <a:bodyPr/>
        <a:lstStyle/>
        <a:p>
          <a:r>
            <a:rPr lang="en-US" b="1"/>
            <a:t>Interpretation of the Scatter Plot:</a:t>
          </a:r>
          <a:endParaRPr lang="en-US"/>
        </a:p>
      </dgm:t>
    </dgm:pt>
    <dgm:pt modelId="{B52F23D6-73DF-41AD-9DDD-90AAC682977E}" type="parTrans" cxnId="{BCFD3DC8-1F95-442B-A87C-9DC2C6D33114}">
      <dgm:prSet/>
      <dgm:spPr/>
      <dgm:t>
        <a:bodyPr/>
        <a:lstStyle/>
        <a:p>
          <a:endParaRPr lang="en-US"/>
        </a:p>
      </dgm:t>
    </dgm:pt>
    <dgm:pt modelId="{C6A35370-13F7-40DF-B2C8-534F04A97424}" type="sibTrans" cxnId="{BCFD3DC8-1F95-442B-A87C-9DC2C6D33114}">
      <dgm:prSet/>
      <dgm:spPr/>
      <dgm:t>
        <a:bodyPr/>
        <a:lstStyle/>
        <a:p>
          <a:endParaRPr lang="en-US"/>
        </a:p>
      </dgm:t>
    </dgm:pt>
    <dgm:pt modelId="{3CD51928-15D6-47A6-BD34-4D0FCEA81C96}">
      <dgm:prSet/>
      <dgm:spPr/>
      <dgm:t>
        <a:bodyPr/>
        <a:lstStyle/>
        <a:p>
          <a:r>
            <a:rPr lang="en-US"/>
            <a:t>Looking at the visualization, I can see:</a:t>
          </a:r>
        </a:p>
      </dgm:t>
    </dgm:pt>
    <dgm:pt modelId="{2703E7ED-51DD-46F2-AB29-095497A1043F}" type="parTrans" cxnId="{D9C55AF4-9229-4B9E-8038-11589095C71F}">
      <dgm:prSet/>
      <dgm:spPr/>
      <dgm:t>
        <a:bodyPr/>
        <a:lstStyle/>
        <a:p>
          <a:endParaRPr lang="en-US"/>
        </a:p>
      </dgm:t>
    </dgm:pt>
    <dgm:pt modelId="{A7537B58-2ACC-4792-8B54-BFB8B4AF29AB}" type="sibTrans" cxnId="{D9C55AF4-9229-4B9E-8038-11589095C71F}">
      <dgm:prSet/>
      <dgm:spPr/>
      <dgm:t>
        <a:bodyPr/>
        <a:lstStyle/>
        <a:p>
          <a:endParaRPr lang="en-US"/>
        </a:p>
      </dgm:t>
    </dgm:pt>
    <dgm:pt modelId="{3684FE5B-E108-4A0D-8F24-5B5F3D864975}">
      <dgm:prSet/>
      <dgm:spPr/>
      <dgm:t>
        <a:bodyPr/>
        <a:lstStyle/>
        <a:p>
          <a:r>
            <a:rPr lang="en-US" b="1"/>
            <a:t>Dense cluster between ages 20-35</a:t>
          </a:r>
          <a:r>
            <a:rPr lang="en-US"/>
            <a:t> - Most professional players are in this age range</a:t>
          </a:r>
        </a:p>
      </dgm:t>
    </dgm:pt>
    <dgm:pt modelId="{C9278107-BB75-4D67-9670-CC5CDFB6656F}" type="parTrans" cxnId="{02772B59-03DD-4CAE-84D6-6E8F838F2CDD}">
      <dgm:prSet/>
      <dgm:spPr/>
      <dgm:t>
        <a:bodyPr/>
        <a:lstStyle/>
        <a:p>
          <a:endParaRPr lang="en-US"/>
        </a:p>
      </dgm:t>
    </dgm:pt>
    <dgm:pt modelId="{EA0E38D6-0369-4334-8023-B2D908436FE8}" type="sibTrans" cxnId="{02772B59-03DD-4CAE-84D6-6E8F838F2CDD}">
      <dgm:prSet/>
      <dgm:spPr/>
      <dgm:t>
        <a:bodyPr/>
        <a:lstStyle/>
        <a:p>
          <a:endParaRPr lang="en-US"/>
        </a:p>
      </dgm:t>
    </dgm:pt>
    <dgm:pt modelId="{0A790415-6A9C-4DA8-B6E4-4C9487402F69}">
      <dgm:prSet/>
      <dgm:spPr/>
      <dgm:t>
        <a:bodyPr/>
        <a:lstStyle/>
        <a:p>
          <a:r>
            <a:rPr lang="en-US" b="1"/>
            <a:t>Overall ratings range from ~45-95</a:t>
          </a:r>
          <a:endParaRPr lang="en-US"/>
        </a:p>
      </dgm:t>
    </dgm:pt>
    <dgm:pt modelId="{8C532F7A-43BE-4967-B008-47C80594DA43}" type="parTrans" cxnId="{8472E149-AB46-42F8-B1B6-1472FABB2F78}">
      <dgm:prSet/>
      <dgm:spPr/>
      <dgm:t>
        <a:bodyPr/>
        <a:lstStyle/>
        <a:p>
          <a:endParaRPr lang="en-US"/>
        </a:p>
      </dgm:t>
    </dgm:pt>
    <dgm:pt modelId="{FBC1B356-E2B7-4D48-A1E5-93B225B28173}" type="sibTrans" cxnId="{8472E149-AB46-42F8-B1B6-1472FABB2F78}">
      <dgm:prSet/>
      <dgm:spPr/>
      <dgm:t>
        <a:bodyPr/>
        <a:lstStyle/>
        <a:p>
          <a:endParaRPr lang="en-US"/>
        </a:p>
      </dgm:t>
    </dgm:pt>
    <dgm:pt modelId="{0346151C-093A-4193-90DE-FBB4C98AFB72}">
      <dgm:prSet/>
      <dgm:spPr/>
      <dgm:t>
        <a:bodyPr/>
        <a:lstStyle/>
        <a:p>
          <a:r>
            <a:rPr lang="en-US" b="1"/>
            <a:t>The shape shows an inverted U-pattern:</a:t>
          </a:r>
          <a:r>
            <a:rPr lang="en-US"/>
            <a:t> </a:t>
          </a:r>
        </a:p>
      </dgm:t>
    </dgm:pt>
    <dgm:pt modelId="{73206794-9888-4B3E-88C7-D04194AD523E}" type="parTrans" cxnId="{D5105D21-BFAD-4EC7-961A-8EBBCD5528C0}">
      <dgm:prSet/>
      <dgm:spPr/>
      <dgm:t>
        <a:bodyPr/>
        <a:lstStyle/>
        <a:p>
          <a:endParaRPr lang="en-US"/>
        </a:p>
      </dgm:t>
    </dgm:pt>
    <dgm:pt modelId="{59F31EA7-1A83-4325-AF2C-2F82C579B3BB}" type="sibTrans" cxnId="{D5105D21-BFAD-4EC7-961A-8EBBCD5528C0}">
      <dgm:prSet/>
      <dgm:spPr/>
      <dgm:t>
        <a:bodyPr/>
        <a:lstStyle/>
        <a:p>
          <a:endParaRPr lang="en-US"/>
        </a:p>
      </dgm:t>
    </dgm:pt>
    <dgm:pt modelId="{9EBC5B9D-315A-4CB3-94B6-4D58AA274174}" type="pres">
      <dgm:prSet presAssocID="{17BF304E-0880-44DE-83E1-6D5FEFD8283F}" presName="diagram" presStyleCnt="0">
        <dgm:presLayoutVars>
          <dgm:dir/>
          <dgm:resizeHandles val="exact"/>
        </dgm:presLayoutVars>
      </dgm:prSet>
      <dgm:spPr/>
    </dgm:pt>
    <dgm:pt modelId="{EE807BB5-5E1D-4569-8C9E-9F3EE62867CC}" type="pres">
      <dgm:prSet presAssocID="{7F5B9064-B73F-4D00-9117-1FB2F53A0E3F}" presName="node" presStyleLbl="node1" presStyleIdx="0" presStyleCnt="5">
        <dgm:presLayoutVars>
          <dgm:bulletEnabled val="1"/>
        </dgm:presLayoutVars>
      </dgm:prSet>
      <dgm:spPr/>
    </dgm:pt>
    <dgm:pt modelId="{91E1412A-1E16-4B2C-BB7F-A37596104A07}" type="pres">
      <dgm:prSet presAssocID="{C6A35370-13F7-40DF-B2C8-534F04A97424}" presName="sibTrans" presStyleCnt="0"/>
      <dgm:spPr/>
    </dgm:pt>
    <dgm:pt modelId="{BC3108C5-41DD-4AAC-8C62-7AFC40D9BEF4}" type="pres">
      <dgm:prSet presAssocID="{3CD51928-15D6-47A6-BD34-4D0FCEA81C96}" presName="node" presStyleLbl="node1" presStyleIdx="1" presStyleCnt="5">
        <dgm:presLayoutVars>
          <dgm:bulletEnabled val="1"/>
        </dgm:presLayoutVars>
      </dgm:prSet>
      <dgm:spPr/>
    </dgm:pt>
    <dgm:pt modelId="{0458ED49-3BD5-461B-BC81-AD3C1F9A9E71}" type="pres">
      <dgm:prSet presAssocID="{A7537B58-2ACC-4792-8B54-BFB8B4AF29AB}" presName="sibTrans" presStyleCnt="0"/>
      <dgm:spPr/>
    </dgm:pt>
    <dgm:pt modelId="{18B5EA9D-FEAE-43F0-B991-877678CFD871}" type="pres">
      <dgm:prSet presAssocID="{3684FE5B-E108-4A0D-8F24-5B5F3D864975}" presName="node" presStyleLbl="node1" presStyleIdx="2" presStyleCnt="5">
        <dgm:presLayoutVars>
          <dgm:bulletEnabled val="1"/>
        </dgm:presLayoutVars>
      </dgm:prSet>
      <dgm:spPr/>
    </dgm:pt>
    <dgm:pt modelId="{F2D54B65-F86F-4AC5-A7C7-2CDA4F236593}" type="pres">
      <dgm:prSet presAssocID="{EA0E38D6-0369-4334-8023-B2D908436FE8}" presName="sibTrans" presStyleCnt="0"/>
      <dgm:spPr/>
    </dgm:pt>
    <dgm:pt modelId="{FE96EC01-556D-475A-82DF-8648030E5CD8}" type="pres">
      <dgm:prSet presAssocID="{0A790415-6A9C-4DA8-B6E4-4C9487402F69}" presName="node" presStyleLbl="node1" presStyleIdx="3" presStyleCnt="5">
        <dgm:presLayoutVars>
          <dgm:bulletEnabled val="1"/>
        </dgm:presLayoutVars>
      </dgm:prSet>
      <dgm:spPr/>
    </dgm:pt>
    <dgm:pt modelId="{AEDC1CA3-4E2D-4B6E-B9E4-955A3FBDCCB1}" type="pres">
      <dgm:prSet presAssocID="{FBC1B356-E2B7-4D48-A1E5-93B225B28173}" presName="sibTrans" presStyleCnt="0"/>
      <dgm:spPr/>
    </dgm:pt>
    <dgm:pt modelId="{C56DE2BE-6D38-4B1B-9FB7-9769B0CA4CBA}" type="pres">
      <dgm:prSet presAssocID="{0346151C-093A-4193-90DE-FBB4C98AFB72}" presName="node" presStyleLbl="node1" presStyleIdx="4" presStyleCnt="5">
        <dgm:presLayoutVars>
          <dgm:bulletEnabled val="1"/>
        </dgm:presLayoutVars>
      </dgm:prSet>
      <dgm:spPr/>
    </dgm:pt>
  </dgm:ptLst>
  <dgm:cxnLst>
    <dgm:cxn modelId="{0FB1791D-CE66-4076-A8F4-FB2E712451C0}" type="presOf" srcId="{3CD51928-15D6-47A6-BD34-4D0FCEA81C96}" destId="{BC3108C5-41DD-4AAC-8C62-7AFC40D9BEF4}" srcOrd="0" destOrd="0" presId="urn:microsoft.com/office/officeart/2005/8/layout/default"/>
    <dgm:cxn modelId="{D5105D21-BFAD-4EC7-961A-8EBBCD5528C0}" srcId="{17BF304E-0880-44DE-83E1-6D5FEFD8283F}" destId="{0346151C-093A-4193-90DE-FBB4C98AFB72}" srcOrd="4" destOrd="0" parTransId="{73206794-9888-4B3E-88C7-D04194AD523E}" sibTransId="{59F31EA7-1A83-4325-AF2C-2F82C579B3BB}"/>
    <dgm:cxn modelId="{8472E149-AB46-42F8-B1B6-1472FABB2F78}" srcId="{17BF304E-0880-44DE-83E1-6D5FEFD8283F}" destId="{0A790415-6A9C-4DA8-B6E4-4C9487402F69}" srcOrd="3" destOrd="0" parTransId="{8C532F7A-43BE-4967-B008-47C80594DA43}" sibTransId="{FBC1B356-E2B7-4D48-A1E5-93B225B28173}"/>
    <dgm:cxn modelId="{02772B59-03DD-4CAE-84D6-6E8F838F2CDD}" srcId="{17BF304E-0880-44DE-83E1-6D5FEFD8283F}" destId="{3684FE5B-E108-4A0D-8F24-5B5F3D864975}" srcOrd="2" destOrd="0" parTransId="{C9278107-BB75-4D67-9670-CC5CDFB6656F}" sibTransId="{EA0E38D6-0369-4334-8023-B2D908436FE8}"/>
    <dgm:cxn modelId="{8385517C-DD27-4AF3-A3B6-67426DB550F3}" type="presOf" srcId="{0A790415-6A9C-4DA8-B6E4-4C9487402F69}" destId="{FE96EC01-556D-475A-82DF-8648030E5CD8}" srcOrd="0" destOrd="0" presId="urn:microsoft.com/office/officeart/2005/8/layout/default"/>
    <dgm:cxn modelId="{22AF4DB8-2301-44BD-A9FD-8F44005FAF48}" type="presOf" srcId="{3684FE5B-E108-4A0D-8F24-5B5F3D864975}" destId="{18B5EA9D-FEAE-43F0-B991-877678CFD871}" srcOrd="0" destOrd="0" presId="urn:microsoft.com/office/officeart/2005/8/layout/default"/>
    <dgm:cxn modelId="{1C3530BC-B0C4-44B7-B182-5D1E640DDCA0}" type="presOf" srcId="{0346151C-093A-4193-90DE-FBB4C98AFB72}" destId="{C56DE2BE-6D38-4B1B-9FB7-9769B0CA4CBA}" srcOrd="0" destOrd="0" presId="urn:microsoft.com/office/officeart/2005/8/layout/default"/>
    <dgm:cxn modelId="{BCFD3DC8-1F95-442B-A87C-9DC2C6D33114}" srcId="{17BF304E-0880-44DE-83E1-6D5FEFD8283F}" destId="{7F5B9064-B73F-4D00-9117-1FB2F53A0E3F}" srcOrd="0" destOrd="0" parTransId="{B52F23D6-73DF-41AD-9DDD-90AAC682977E}" sibTransId="{C6A35370-13F7-40DF-B2C8-534F04A97424}"/>
    <dgm:cxn modelId="{EB7DB8D8-E41A-406E-AE14-3462D2B94FA1}" type="presOf" srcId="{7F5B9064-B73F-4D00-9117-1FB2F53A0E3F}" destId="{EE807BB5-5E1D-4569-8C9E-9F3EE62867CC}" srcOrd="0" destOrd="0" presId="urn:microsoft.com/office/officeart/2005/8/layout/default"/>
    <dgm:cxn modelId="{229244EF-9CB4-48F5-BCBC-7A98B0D6C53B}" type="presOf" srcId="{17BF304E-0880-44DE-83E1-6D5FEFD8283F}" destId="{9EBC5B9D-315A-4CB3-94B6-4D58AA274174}" srcOrd="0" destOrd="0" presId="urn:microsoft.com/office/officeart/2005/8/layout/default"/>
    <dgm:cxn modelId="{D9C55AF4-9229-4B9E-8038-11589095C71F}" srcId="{17BF304E-0880-44DE-83E1-6D5FEFD8283F}" destId="{3CD51928-15D6-47A6-BD34-4D0FCEA81C96}" srcOrd="1" destOrd="0" parTransId="{2703E7ED-51DD-46F2-AB29-095497A1043F}" sibTransId="{A7537B58-2ACC-4792-8B54-BFB8B4AF29AB}"/>
    <dgm:cxn modelId="{29FDD232-E5DA-4AEB-B27C-F39F30991892}" type="presParOf" srcId="{9EBC5B9D-315A-4CB3-94B6-4D58AA274174}" destId="{EE807BB5-5E1D-4569-8C9E-9F3EE62867CC}" srcOrd="0" destOrd="0" presId="urn:microsoft.com/office/officeart/2005/8/layout/default"/>
    <dgm:cxn modelId="{AF5AC8DA-5C61-4366-A716-9DAA68FF19BA}" type="presParOf" srcId="{9EBC5B9D-315A-4CB3-94B6-4D58AA274174}" destId="{91E1412A-1E16-4B2C-BB7F-A37596104A07}" srcOrd="1" destOrd="0" presId="urn:microsoft.com/office/officeart/2005/8/layout/default"/>
    <dgm:cxn modelId="{03E2DB87-FB61-4897-9418-59C0B453EF85}" type="presParOf" srcId="{9EBC5B9D-315A-4CB3-94B6-4D58AA274174}" destId="{BC3108C5-41DD-4AAC-8C62-7AFC40D9BEF4}" srcOrd="2" destOrd="0" presId="urn:microsoft.com/office/officeart/2005/8/layout/default"/>
    <dgm:cxn modelId="{23414149-AA63-46A5-83FE-BF7550079316}" type="presParOf" srcId="{9EBC5B9D-315A-4CB3-94B6-4D58AA274174}" destId="{0458ED49-3BD5-461B-BC81-AD3C1F9A9E71}" srcOrd="3" destOrd="0" presId="urn:microsoft.com/office/officeart/2005/8/layout/default"/>
    <dgm:cxn modelId="{1A54DEF8-7972-4C81-B175-D58A75F2B235}" type="presParOf" srcId="{9EBC5B9D-315A-4CB3-94B6-4D58AA274174}" destId="{18B5EA9D-FEAE-43F0-B991-877678CFD871}" srcOrd="4" destOrd="0" presId="urn:microsoft.com/office/officeart/2005/8/layout/default"/>
    <dgm:cxn modelId="{D60EA5B8-FAD8-4119-B277-C31038CC932C}" type="presParOf" srcId="{9EBC5B9D-315A-4CB3-94B6-4D58AA274174}" destId="{F2D54B65-F86F-4AC5-A7C7-2CDA4F236593}" srcOrd="5" destOrd="0" presId="urn:microsoft.com/office/officeart/2005/8/layout/default"/>
    <dgm:cxn modelId="{899152C2-1366-48D4-9605-1ADB7DE6B8E9}" type="presParOf" srcId="{9EBC5B9D-315A-4CB3-94B6-4D58AA274174}" destId="{FE96EC01-556D-475A-82DF-8648030E5CD8}" srcOrd="6" destOrd="0" presId="urn:microsoft.com/office/officeart/2005/8/layout/default"/>
    <dgm:cxn modelId="{146F4BA2-B4E3-42DD-8E0F-A4D796EEB635}" type="presParOf" srcId="{9EBC5B9D-315A-4CB3-94B6-4D58AA274174}" destId="{AEDC1CA3-4E2D-4B6E-B9E4-955A3FBDCCB1}" srcOrd="7" destOrd="0" presId="urn:microsoft.com/office/officeart/2005/8/layout/default"/>
    <dgm:cxn modelId="{7CE4B9CB-9F0B-48D5-9502-7D1B697B0F20}" type="presParOf" srcId="{9EBC5B9D-315A-4CB3-94B6-4D58AA274174}" destId="{C56DE2BE-6D38-4B1B-9FB7-9769B0CA4CBA}"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B85E5E-016A-4F5C-890B-BC94DE771D6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DCB5DAC-C5D1-41C8-B998-90E6ACE65CD6}">
      <dgm:prSet/>
      <dgm:spPr/>
      <dgm:t>
        <a:bodyPr/>
        <a:lstStyle/>
        <a:p>
          <a:r>
            <a:rPr lang="en-US" b="1"/>
            <a:t>Key Findings:</a:t>
          </a:r>
          <a:endParaRPr lang="en-US"/>
        </a:p>
      </dgm:t>
    </dgm:pt>
    <dgm:pt modelId="{2546DBB8-2279-4A54-92C1-5C868CCA8DB8}" type="parTrans" cxnId="{65B40260-C339-426B-B867-655DD5192B3C}">
      <dgm:prSet/>
      <dgm:spPr/>
      <dgm:t>
        <a:bodyPr/>
        <a:lstStyle/>
        <a:p>
          <a:endParaRPr lang="en-US"/>
        </a:p>
      </dgm:t>
    </dgm:pt>
    <dgm:pt modelId="{63E21A1E-45EF-4465-A613-3C73DD6278EC}" type="sibTrans" cxnId="{65B40260-C339-426B-B867-655DD5192B3C}">
      <dgm:prSet/>
      <dgm:spPr/>
      <dgm:t>
        <a:bodyPr/>
        <a:lstStyle/>
        <a:p>
          <a:endParaRPr lang="en-US"/>
        </a:p>
      </dgm:t>
    </dgm:pt>
    <dgm:pt modelId="{A33C4C71-ED54-41F5-B618-802C2595AA9F}">
      <dgm:prSet/>
      <dgm:spPr/>
      <dgm:t>
        <a:bodyPr/>
        <a:lstStyle/>
        <a:p>
          <a:r>
            <a:rPr lang="en-US" b="1"/>
            <a:t>Strikers (ST) - Appear to earn the MOST</a:t>
          </a:r>
          <a:r>
            <a:rPr lang="en-US"/>
            <a:t> </a:t>
          </a:r>
        </a:p>
      </dgm:t>
    </dgm:pt>
    <dgm:pt modelId="{0EED27C6-B456-46A3-82CF-68E67319C9C1}" type="parTrans" cxnId="{74FA6D73-C45B-41B5-A51E-77FCD6238BDD}">
      <dgm:prSet/>
      <dgm:spPr/>
      <dgm:t>
        <a:bodyPr/>
        <a:lstStyle/>
        <a:p>
          <a:endParaRPr lang="en-US"/>
        </a:p>
      </dgm:t>
    </dgm:pt>
    <dgm:pt modelId="{BBBCA4E6-9C1B-4F3C-BE97-2ACB0FE34CEB}" type="sibTrans" cxnId="{74FA6D73-C45B-41B5-A51E-77FCD6238BDD}">
      <dgm:prSet/>
      <dgm:spPr/>
      <dgm:t>
        <a:bodyPr/>
        <a:lstStyle/>
        <a:p>
          <a:endParaRPr lang="en-US"/>
        </a:p>
      </dgm:t>
    </dgm:pt>
    <dgm:pt modelId="{AB552CFD-FD85-45B7-BE0F-795015D7A8A3}">
      <dgm:prSet custT="1"/>
      <dgm:spPr/>
      <dgm:t>
        <a:bodyPr/>
        <a:lstStyle/>
        <a:p>
          <a:pPr>
            <a:lnSpc>
              <a:spcPct val="100000"/>
            </a:lnSpc>
          </a:pPr>
          <a:r>
            <a:rPr lang="en-US" sz="2000" dirty="0">
              <a:highlight>
                <a:srgbClr val="800080"/>
              </a:highlight>
            </a:rPr>
            <a:t>The </a:t>
          </a:r>
          <a:r>
            <a:rPr lang="en-US" sz="2000" b="1" dirty="0">
              <a:highlight>
                <a:srgbClr val="800080"/>
              </a:highlight>
            </a:rPr>
            <a:t>highest wage points</a:t>
          </a:r>
          <a:r>
            <a:rPr lang="en-US" sz="2000" dirty="0">
              <a:highlight>
                <a:srgbClr val="800080"/>
              </a:highlight>
            </a:rPr>
            <a:t> (top of the chart, around 0.6M) are dominated by </a:t>
          </a:r>
          <a:r>
            <a:rPr lang="en-US" sz="2000" b="1" dirty="0">
              <a:highlight>
                <a:srgbClr val="800080"/>
              </a:highlight>
            </a:rPr>
            <a:t>black/dark dots (ST</a:t>
          </a:r>
          <a:r>
            <a:rPr lang="en-US" sz="1900" b="1" dirty="0">
              <a:highlight>
                <a:srgbClr val="800080"/>
              </a:highlight>
            </a:rPr>
            <a:t>)</a:t>
          </a:r>
          <a:endParaRPr lang="en-US" sz="1900" dirty="0">
            <a:highlight>
              <a:srgbClr val="800080"/>
            </a:highlight>
          </a:endParaRPr>
        </a:p>
      </dgm:t>
    </dgm:pt>
    <dgm:pt modelId="{1383AA38-A4E2-42FB-85C5-A664616737CB}" type="parTrans" cxnId="{D4908678-66A6-447E-B4DF-0946FC25A7AC}">
      <dgm:prSet/>
      <dgm:spPr/>
      <dgm:t>
        <a:bodyPr/>
        <a:lstStyle/>
        <a:p>
          <a:endParaRPr lang="en-US"/>
        </a:p>
      </dgm:t>
    </dgm:pt>
    <dgm:pt modelId="{3B1C9E6D-3492-407C-A964-087353310FF2}" type="sibTrans" cxnId="{D4908678-66A6-447E-B4DF-0946FC25A7AC}">
      <dgm:prSet/>
      <dgm:spPr/>
      <dgm:t>
        <a:bodyPr/>
        <a:lstStyle/>
        <a:p>
          <a:endParaRPr lang="en-US"/>
        </a:p>
      </dgm:t>
    </dgm:pt>
    <dgm:pt modelId="{1A3BC5C6-3653-44C9-B58C-3190122C78B6}">
      <dgm:prSet custT="1"/>
      <dgm:spPr/>
      <dgm:t>
        <a:bodyPr/>
        <a:lstStyle/>
        <a:p>
          <a:r>
            <a:rPr lang="en-US" sz="2800" dirty="0"/>
            <a:t>The top-paid players are strikers</a:t>
          </a:r>
        </a:p>
      </dgm:t>
    </dgm:pt>
    <dgm:pt modelId="{31062E15-BD9A-44E2-9927-CF4800E8526B}" type="parTrans" cxnId="{C26AC62C-0182-4CB3-BD83-C4708EE97C1B}">
      <dgm:prSet/>
      <dgm:spPr/>
      <dgm:t>
        <a:bodyPr/>
        <a:lstStyle/>
        <a:p>
          <a:endParaRPr lang="en-US"/>
        </a:p>
      </dgm:t>
    </dgm:pt>
    <dgm:pt modelId="{9FAD4F02-4DAD-4D60-B721-F26442D10F5B}" type="sibTrans" cxnId="{C26AC62C-0182-4CB3-BD83-C4708EE97C1B}">
      <dgm:prSet/>
      <dgm:spPr/>
      <dgm:t>
        <a:bodyPr/>
        <a:lstStyle/>
        <a:p>
          <a:endParaRPr lang="en-US"/>
        </a:p>
      </dgm:t>
    </dgm:pt>
    <dgm:pt modelId="{948B855F-018A-4DF1-832A-A76C28B1A2B8}">
      <dgm:prSet/>
      <dgm:spPr/>
      <dgm:t>
        <a:bodyPr/>
        <a:lstStyle/>
        <a:p>
          <a:r>
            <a:rPr lang="en-US" b="1"/>
            <a:t>Left Wingers (LW) and Right Wingers (RW) - Similar wages</a:t>
          </a:r>
          <a:r>
            <a:rPr lang="en-US"/>
            <a:t> </a:t>
          </a:r>
        </a:p>
      </dgm:t>
    </dgm:pt>
    <dgm:pt modelId="{93BF3617-20CF-41B3-8FD2-9FA05FCD86E0}" type="parTrans" cxnId="{C00FFAF1-0924-4A75-B912-1AC7DE0D8321}">
      <dgm:prSet/>
      <dgm:spPr/>
      <dgm:t>
        <a:bodyPr/>
        <a:lstStyle/>
        <a:p>
          <a:endParaRPr lang="en-US"/>
        </a:p>
      </dgm:t>
    </dgm:pt>
    <dgm:pt modelId="{496E84E1-0EFE-4F0E-BC09-8B3045DAAF9C}" type="sibTrans" cxnId="{C00FFAF1-0924-4A75-B912-1AC7DE0D8321}">
      <dgm:prSet/>
      <dgm:spPr/>
      <dgm:t>
        <a:bodyPr/>
        <a:lstStyle/>
        <a:p>
          <a:endParaRPr lang="en-US"/>
        </a:p>
      </dgm:t>
    </dgm:pt>
    <dgm:pt modelId="{BF56A8F7-DE84-42C1-9A39-B340DD7A1AB5}">
      <dgm:prSet custT="1"/>
      <dgm:spPr/>
      <dgm:t>
        <a:bodyPr/>
        <a:lstStyle/>
        <a:p>
          <a:r>
            <a:rPr lang="en-US" sz="1200" dirty="0"/>
            <a:t>Green (LW) and purple/pink (RW) dots are mixed throughout</a:t>
          </a:r>
        </a:p>
      </dgm:t>
    </dgm:pt>
    <dgm:pt modelId="{ADC45899-0193-4FB3-B0B7-8575DDF8C50A}" type="parTrans" cxnId="{5F03E6DD-FACD-4D1C-A39A-9E641C114DA6}">
      <dgm:prSet/>
      <dgm:spPr/>
      <dgm:t>
        <a:bodyPr/>
        <a:lstStyle/>
        <a:p>
          <a:endParaRPr lang="en-US"/>
        </a:p>
      </dgm:t>
    </dgm:pt>
    <dgm:pt modelId="{36A1FC01-5556-4B5B-AA67-7B0E53573251}" type="sibTrans" cxnId="{5F03E6DD-FACD-4D1C-A39A-9E641C114DA6}">
      <dgm:prSet/>
      <dgm:spPr/>
      <dgm:t>
        <a:bodyPr/>
        <a:lstStyle/>
        <a:p>
          <a:endParaRPr lang="en-US"/>
        </a:p>
      </dgm:t>
    </dgm:pt>
    <dgm:pt modelId="{0733520D-0177-42F0-9760-069034951696}">
      <dgm:prSet custT="1"/>
      <dgm:spPr/>
      <dgm:t>
        <a:bodyPr/>
        <a:lstStyle/>
        <a:p>
          <a:r>
            <a:rPr lang="en-US" sz="1200" dirty="0"/>
            <a:t>They appear to have comparable wage distributions Slightly lower than strikers at the very top end</a:t>
          </a:r>
        </a:p>
      </dgm:t>
    </dgm:pt>
    <dgm:pt modelId="{A99B4D2B-5612-46B2-B3E9-BAE0691AE8F4}" type="parTrans" cxnId="{05E102C2-77A4-46AD-A0CB-54BB8B2876F6}">
      <dgm:prSet/>
      <dgm:spPr/>
      <dgm:t>
        <a:bodyPr/>
        <a:lstStyle/>
        <a:p>
          <a:endParaRPr lang="en-US"/>
        </a:p>
      </dgm:t>
    </dgm:pt>
    <dgm:pt modelId="{EA4EB777-5D74-45A8-AE95-6F038B640216}" type="sibTrans" cxnId="{05E102C2-77A4-46AD-A0CB-54BB8B2876F6}">
      <dgm:prSet/>
      <dgm:spPr/>
      <dgm:t>
        <a:bodyPr/>
        <a:lstStyle/>
        <a:p>
          <a:endParaRPr lang="en-US"/>
        </a:p>
      </dgm:t>
    </dgm:pt>
    <dgm:pt modelId="{03882D96-FD3A-4198-A814-9E9B3AACFE9A}" type="pres">
      <dgm:prSet presAssocID="{F3B85E5E-016A-4F5C-890B-BC94DE771D61}" presName="root" presStyleCnt="0">
        <dgm:presLayoutVars>
          <dgm:dir/>
          <dgm:resizeHandles val="exact"/>
        </dgm:presLayoutVars>
      </dgm:prSet>
      <dgm:spPr/>
    </dgm:pt>
    <dgm:pt modelId="{63D3F583-B828-4617-B1F2-CD6CFD5AD8E5}" type="pres">
      <dgm:prSet presAssocID="{ADCB5DAC-C5D1-41C8-B998-90E6ACE65CD6}" presName="compNode" presStyleCnt="0"/>
      <dgm:spPr/>
    </dgm:pt>
    <dgm:pt modelId="{9E5BB859-AD43-446C-A221-A3178090233A}" type="pres">
      <dgm:prSet presAssocID="{ADCB5DAC-C5D1-41C8-B998-90E6ACE65CD6}" presName="bgRect" presStyleLbl="bgShp" presStyleIdx="0" presStyleCnt="5"/>
      <dgm:spPr/>
    </dgm:pt>
    <dgm:pt modelId="{E0697016-12AB-4709-A36D-6D53E0A63B7E}" type="pres">
      <dgm:prSet presAssocID="{ADCB5DAC-C5D1-41C8-B998-90E6ACE65CD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B91718EF-3EB7-44BA-81BC-231F7704BF5C}" type="pres">
      <dgm:prSet presAssocID="{ADCB5DAC-C5D1-41C8-B998-90E6ACE65CD6}" presName="spaceRect" presStyleCnt="0"/>
      <dgm:spPr/>
    </dgm:pt>
    <dgm:pt modelId="{9484BC51-AEE7-4329-9D1C-6692B5E73E2A}" type="pres">
      <dgm:prSet presAssocID="{ADCB5DAC-C5D1-41C8-B998-90E6ACE65CD6}" presName="parTx" presStyleLbl="revTx" presStyleIdx="0" presStyleCnt="6">
        <dgm:presLayoutVars>
          <dgm:chMax val="0"/>
          <dgm:chPref val="0"/>
        </dgm:presLayoutVars>
      </dgm:prSet>
      <dgm:spPr/>
    </dgm:pt>
    <dgm:pt modelId="{7C9CE71E-E1A9-4433-8A0A-4FB9EFCAB1D5}" type="pres">
      <dgm:prSet presAssocID="{63E21A1E-45EF-4465-A613-3C73DD6278EC}" presName="sibTrans" presStyleCnt="0"/>
      <dgm:spPr/>
    </dgm:pt>
    <dgm:pt modelId="{37979F3E-8767-410F-BE45-B0E361F6D540}" type="pres">
      <dgm:prSet presAssocID="{A33C4C71-ED54-41F5-B618-802C2595AA9F}" presName="compNode" presStyleCnt="0"/>
      <dgm:spPr/>
    </dgm:pt>
    <dgm:pt modelId="{63DE0832-68FB-498D-8C8C-41F7FD238B0E}" type="pres">
      <dgm:prSet presAssocID="{A33C4C71-ED54-41F5-B618-802C2595AA9F}" presName="bgRect" presStyleLbl="bgShp" presStyleIdx="1" presStyleCnt="5"/>
      <dgm:spPr/>
    </dgm:pt>
    <dgm:pt modelId="{7F29A784-6905-4F8E-9020-14D1EDD82AA6}" type="pres">
      <dgm:prSet presAssocID="{A33C4C71-ED54-41F5-B618-802C2595AA9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ccer"/>
        </a:ext>
      </dgm:extLst>
    </dgm:pt>
    <dgm:pt modelId="{CF80DDA4-4B79-4937-AF39-AA1663899DC5}" type="pres">
      <dgm:prSet presAssocID="{A33C4C71-ED54-41F5-B618-802C2595AA9F}" presName="spaceRect" presStyleCnt="0"/>
      <dgm:spPr/>
    </dgm:pt>
    <dgm:pt modelId="{AAF59384-F64D-46C7-B1AC-A0D05E124FEE}" type="pres">
      <dgm:prSet presAssocID="{A33C4C71-ED54-41F5-B618-802C2595AA9F}" presName="parTx" presStyleLbl="revTx" presStyleIdx="1" presStyleCnt="6">
        <dgm:presLayoutVars>
          <dgm:chMax val="0"/>
          <dgm:chPref val="0"/>
        </dgm:presLayoutVars>
      </dgm:prSet>
      <dgm:spPr/>
    </dgm:pt>
    <dgm:pt modelId="{607CDB76-8E61-41B0-8069-0D1851E5B5ED}" type="pres">
      <dgm:prSet presAssocID="{BBBCA4E6-9C1B-4F3C-BE97-2ACB0FE34CEB}" presName="sibTrans" presStyleCnt="0"/>
      <dgm:spPr/>
    </dgm:pt>
    <dgm:pt modelId="{489C9DBF-A8D8-455D-B6CD-1F82231D2221}" type="pres">
      <dgm:prSet presAssocID="{AB552CFD-FD85-45B7-BE0F-795015D7A8A3}" presName="compNode" presStyleCnt="0"/>
      <dgm:spPr/>
    </dgm:pt>
    <dgm:pt modelId="{79E82E04-4941-4D3B-98A8-EEE3C19959B4}" type="pres">
      <dgm:prSet presAssocID="{AB552CFD-FD85-45B7-BE0F-795015D7A8A3}" presName="bgRect" presStyleLbl="bgShp" presStyleIdx="2" presStyleCnt="5"/>
      <dgm:spPr/>
    </dgm:pt>
    <dgm:pt modelId="{CF887255-5467-4BC3-92A6-C7D9DD4E57DF}" type="pres">
      <dgm:prSet presAssocID="{AB552CFD-FD85-45B7-BE0F-795015D7A8A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3FAC316F-8A26-49BF-B3F7-F514DD40C037}" type="pres">
      <dgm:prSet presAssocID="{AB552CFD-FD85-45B7-BE0F-795015D7A8A3}" presName="spaceRect" presStyleCnt="0"/>
      <dgm:spPr/>
    </dgm:pt>
    <dgm:pt modelId="{0212A638-167D-4F4B-8777-37FE99493391}" type="pres">
      <dgm:prSet presAssocID="{AB552CFD-FD85-45B7-BE0F-795015D7A8A3}" presName="parTx" presStyleLbl="revTx" presStyleIdx="2" presStyleCnt="6">
        <dgm:presLayoutVars>
          <dgm:chMax val="0"/>
          <dgm:chPref val="0"/>
        </dgm:presLayoutVars>
      </dgm:prSet>
      <dgm:spPr/>
    </dgm:pt>
    <dgm:pt modelId="{9BB3B725-01A1-4D70-9AB9-F1F2FFC531E4}" type="pres">
      <dgm:prSet presAssocID="{3B1C9E6D-3492-407C-A964-087353310FF2}" presName="sibTrans" presStyleCnt="0"/>
      <dgm:spPr/>
    </dgm:pt>
    <dgm:pt modelId="{BD541731-307E-4501-97D4-C5F27B3491D7}" type="pres">
      <dgm:prSet presAssocID="{1A3BC5C6-3653-44C9-B58C-3190122C78B6}" presName="compNode" presStyleCnt="0"/>
      <dgm:spPr/>
    </dgm:pt>
    <dgm:pt modelId="{6FE57478-9A60-4CD2-8E1C-A4B755F5C7F7}" type="pres">
      <dgm:prSet presAssocID="{1A3BC5C6-3653-44C9-B58C-3190122C78B6}" presName="bgRect" presStyleLbl="bgShp" presStyleIdx="3" presStyleCnt="5"/>
      <dgm:spPr/>
    </dgm:pt>
    <dgm:pt modelId="{57A758C3-F53C-4B7B-9564-E35322380B4E}" type="pres">
      <dgm:prSet presAssocID="{1A3BC5C6-3653-44C9-B58C-3190122C78B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gby"/>
        </a:ext>
      </dgm:extLst>
    </dgm:pt>
    <dgm:pt modelId="{C505F967-9EF0-4A94-8E44-C71205D29C73}" type="pres">
      <dgm:prSet presAssocID="{1A3BC5C6-3653-44C9-B58C-3190122C78B6}" presName="spaceRect" presStyleCnt="0"/>
      <dgm:spPr/>
    </dgm:pt>
    <dgm:pt modelId="{2AF7A6FE-50E2-4758-AE70-06336136991B}" type="pres">
      <dgm:prSet presAssocID="{1A3BC5C6-3653-44C9-B58C-3190122C78B6}" presName="parTx" presStyleLbl="revTx" presStyleIdx="3" presStyleCnt="6">
        <dgm:presLayoutVars>
          <dgm:chMax val="0"/>
          <dgm:chPref val="0"/>
        </dgm:presLayoutVars>
      </dgm:prSet>
      <dgm:spPr/>
    </dgm:pt>
    <dgm:pt modelId="{0F9D6778-201F-4201-B9F1-2ED2746CC106}" type="pres">
      <dgm:prSet presAssocID="{9FAD4F02-4DAD-4D60-B721-F26442D10F5B}" presName="sibTrans" presStyleCnt="0"/>
      <dgm:spPr/>
    </dgm:pt>
    <dgm:pt modelId="{6DBC9EA3-9E14-48B5-9C0E-3D1B3AA24248}" type="pres">
      <dgm:prSet presAssocID="{948B855F-018A-4DF1-832A-A76C28B1A2B8}" presName="compNode" presStyleCnt="0"/>
      <dgm:spPr/>
    </dgm:pt>
    <dgm:pt modelId="{863FC81F-7E9C-4DA4-9FB6-C93B1B354B82}" type="pres">
      <dgm:prSet presAssocID="{948B855F-018A-4DF1-832A-A76C28B1A2B8}" presName="bgRect" presStyleLbl="bgShp" presStyleIdx="4" presStyleCnt="5"/>
      <dgm:spPr/>
    </dgm:pt>
    <dgm:pt modelId="{7C061AE8-15A6-4ACD-A246-043425141102}" type="pres">
      <dgm:prSet presAssocID="{948B855F-018A-4DF1-832A-A76C28B1A2B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ucculent"/>
        </a:ext>
      </dgm:extLst>
    </dgm:pt>
    <dgm:pt modelId="{1EC98100-EB11-4346-9A2E-5596A1DF82EE}" type="pres">
      <dgm:prSet presAssocID="{948B855F-018A-4DF1-832A-A76C28B1A2B8}" presName="spaceRect" presStyleCnt="0"/>
      <dgm:spPr/>
    </dgm:pt>
    <dgm:pt modelId="{95B7A131-2205-4C59-B6A4-CFF88CCC0ADC}" type="pres">
      <dgm:prSet presAssocID="{948B855F-018A-4DF1-832A-A76C28B1A2B8}" presName="parTx" presStyleLbl="revTx" presStyleIdx="4" presStyleCnt="6">
        <dgm:presLayoutVars>
          <dgm:chMax val="0"/>
          <dgm:chPref val="0"/>
        </dgm:presLayoutVars>
      </dgm:prSet>
      <dgm:spPr/>
    </dgm:pt>
    <dgm:pt modelId="{28D75C95-4786-4BBF-AA33-E03CF43C12FF}" type="pres">
      <dgm:prSet presAssocID="{948B855F-018A-4DF1-832A-A76C28B1A2B8}" presName="desTx" presStyleLbl="revTx" presStyleIdx="5" presStyleCnt="6">
        <dgm:presLayoutVars/>
      </dgm:prSet>
      <dgm:spPr/>
    </dgm:pt>
  </dgm:ptLst>
  <dgm:cxnLst>
    <dgm:cxn modelId="{4DC56B24-EA30-4397-9801-64A8BE2CFBB6}" type="presOf" srcId="{AB552CFD-FD85-45B7-BE0F-795015D7A8A3}" destId="{0212A638-167D-4F4B-8777-37FE99493391}" srcOrd="0" destOrd="0" presId="urn:microsoft.com/office/officeart/2018/2/layout/IconVerticalSolidList"/>
    <dgm:cxn modelId="{7FE8ED26-25A2-4FA1-AD2C-FAF53BB3465C}" type="presOf" srcId="{ADCB5DAC-C5D1-41C8-B998-90E6ACE65CD6}" destId="{9484BC51-AEE7-4329-9D1C-6692B5E73E2A}" srcOrd="0" destOrd="0" presId="urn:microsoft.com/office/officeart/2018/2/layout/IconVerticalSolidList"/>
    <dgm:cxn modelId="{C26AC62C-0182-4CB3-BD83-C4708EE97C1B}" srcId="{F3B85E5E-016A-4F5C-890B-BC94DE771D61}" destId="{1A3BC5C6-3653-44C9-B58C-3190122C78B6}" srcOrd="3" destOrd="0" parTransId="{31062E15-BD9A-44E2-9927-CF4800E8526B}" sibTransId="{9FAD4F02-4DAD-4D60-B721-F26442D10F5B}"/>
    <dgm:cxn modelId="{65B40260-C339-426B-B867-655DD5192B3C}" srcId="{F3B85E5E-016A-4F5C-890B-BC94DE771D61}" destId="{ADCB5DAC-C5D1-41C8-B998-90E6ACE65CD6}" srcOrd="0" destOrd="0" parTransId="{2546DBB8-2279-4A54-92C1-5C868CCA8DB8}" sibTransId="{63E21A1E-45EF-4465-A613-3C73DD6278EC}"/>
    <dgm:cxn modelId="{C97F0A6C-9958-43B6-8953-719A3D85A613}" type="presOf" srcId="{948B855F-018A-4DF1-832A-A76C28B1A2B8}" destId="{95B7A131-2205-4C59-B6A4-CFF88CCC0ADC}" srcOrd="0" destOrd="0" presId="urn:microsoft.com/office/officeart/2018/2/layout/IconVerticalSolidList"/>
    <dgm:cxn modelId="{74FA6D73-C45B-41B5-A51E-77FCD6238BDD}" srcId="{F3B85E5E-016A-4F5C-890B-BC94DE771D61}" destId="{A33C4C71-ED54-41F5-B618-802C2595AA9F}" srcOrd="1" destOrd="0" parTransId="{0EED27C6-B456-46A3-82CF-68E67319C9C1}" sibTransId="{BBBCA4E6-9C1B-4F3C-BE97-2ACB0FE34CEB}"/>
    <dgm:cxn modelId="{D4908678-66A6-447E-B4DF-0946FC25A7AC}" srcId="{F3B85E5E-016A-4F5C-890B-BC94DE771D61}" destId="{AB552CFD-FD85-45B7-BE0F-795015D7A8A3}" srcOrd="2" destOrd="0" parTransId="{1383AA38-A4E2-42FB-85C5-A664616737CB}" sibTransId="{3B1C9E6D-3492-407C-A964-087353310FF2}"/>
    <dgm:cxn modelId="{6CA6857B-300C-47E5-BA48-F38A06E722DE}" type="presOf" srcId="{F3B85E5E-016A-4F5C-890B-BC94DE771D61}" destId="{03882D96-FD3A-4198-A814-9E9B3AACFE9A}" srcOrd="0" destOrd="0" presId="urn:microsoft.com/office/officeart/2018/2/layout/IconVerticalSolidList"/>
    <dgm:cxn modelId="{D46DB68E-8F29-4F55-8DEE-B7B04511B32C}" type="presOf" srcId="{A33C4C71-ED54-41F5-B618-802C2595AA9F}" destId="{AAF59384-F64D-46C7-B1AC-A0D05E124FEE}" srcOrd="0" destOrd="0" presId="urn:microsoft.com/office/officeart/2018/2/layout/IconVerticalSolidList"/>
    <dgm:cxn modelId="{BF63FEBC-DFEB-4574-95EC-F7A18C91729D}" type="presOf" srcId="{1A3BC5C6-3653-44C9-B58C-3190122C78B6}" destId="{2AF7A6FE-50E2-4758-AE70-06336136991B}" srcOrd="0" destOrd="0" presId="urn:microsoft.com/office/officeart/2018/2/layout/IconVerticalSolidList"/>
    <dgm:cxn modelId="{05E102C2-77A4-46AD-A0CB-54BB8B2876F6}" srcId="{948B855F-018A-4DF1-832A-A76C28B1A2B8}" destId="{0733520D-0177-42F0-9760-069034951696}" srcOrd="1" destOrd="0" parTransId="{A99B4D2B-5612-46B2-B3E9-BAE0691AE8F4}" sibTransId="{EA4EB777-5D74-45A8-AE95-6F038B640216}"/>
    <dgm:cxn modelId="{D747FAD3-D252-4F0B-90AD-906F01C9E55B}" type="presOf" srcId="{BF56A8F7-DE84-42C1-9A39-B340DD7A1AB5}" destId="{28D75C95-4786-4BBF-AA33-E03CF43C12FF}" srcOrd="0" destOrd="0" presId="urn:microsoft.com/office/officeart/2018/2/layout/IconVerticalSolidList"/>
    <dgm:cxn modelId="{7F89AFDA-D152-46DC-B36F-0841DBBA5817}" type="presOf" srcId="{0733520D-0177-42F0-9760-069034951696}" destId="{28D75C95-4786-4BBF-AA33-E03CF43C12FF}" srcOrd="0" destOrd="1" presId="urn:microsoft.com/office/officeart/2018/2/layout/IconVerticalSolidList"/>
    <dgm:cxn modelId="{5F03E6DD-FACD-4D1C-A39A-9E641C114DA6}" srcId="{948B855F-018A-4DF1-832A-A76C28B1A2B8}" destId="{BF56A8F7-DE84-42C1-9A39-B340DD7A1AB5}" srcOrd="0" destOrd="0" parTransId="{ADC45899-0193-4FB3-B0B7-8575DDF8C50A}" sibTransId="{36A1FC01-5556-4B5B-AA67-7B0E53573251}"/>
    <dgm:cxn modelId="{C00FFAF1-0924-4A75-B912-1AC7DE0D8321}" srcId="{F3B85E5E-016A-4F5C-890B-BC94DE771D61}" destId="{948B855F-018A-4DF1-832A-A76C28B1A2B8}" srcOrd="4" destOrd="0" parTransId="{93BF3617-20CF-41B3-8FD2-9FA05FCD86E0}" sibTransId="{496E84E1-0EFE-4F0E-BC09-8B3045DAAF9C}"/>
    <dgm:cxn modelId="{685631F4-FC94-4044-A560-56E4C28D6D34}" type="presParOf" srcId="{03882D96-FD3A-4198-A814-9E9B3AACFE9A}" destId="{63D3F583-B828-4617-B1F2-CD6CFD5AD8E5}" srcOrd="0" destOrd="0" presId="urn:microsoft.com/office/officeart/2018/2/layout/IconVerticalSolidList"/>
    <dgm:cxn modelId="{F8700F00-F8D4-43B1-BA3C-21A690A4B408}" type="presParOf" srcId="{63D3F583-B828-4617-B1F2-CD6CFD5AD8E5}" destId="{9E5BB859-AD43-446C-A221-A3178090233A}" srcOrd="0" destOrd="0" presId="urn:microsoft.com/office/officeart/2018/2/layout/IconVerticalSolidList"/>
    <dgm:cxn modelId="{3C4CB55A-50A6-46E5-8C36-C842720BCA1F}" type="presParOf" srcId="{63D3F583-B828-4617-B1F2-CD6CFD5AD8E5}" destId="{E0697016-12AB-4709-A36D-6D53E0A63B7E}" srcOrd="1" destOrd="0" presId="urn:microsoft.com/office/officeart/2018/2/layout/IconVerticalSolidList"/>
    <dgm:cxn modelId="{13BEE146-25DD-40A1-B973-7D9FCDAC1704}" type="presParOf" srcId="{63D3F583-B828-4617-B1F2-CD6CFD5AD8E5}" destId="{B91718EF-3EB7-44BA-81BC-231F7704BF5C}" srcOrd="2" destOrd="0" presId="urn:microsoft.com/office/officeart/2018/2/layout/IconVerticalSolidList"/>
    <dgm:cxn modelId="{A62CA1AB-80AB-4CF9-BC7A-33A8FA57DCB4}" type="presParOf" srcId="{63D3F583-B828-4617-B1F2-CD6CFD5AD8E5}" destId="{9484BC51-AEE7-4329-9D1C-6692B5E73E2A}" srcOrd="3" destOrd="0" presId="urn:microsoft.com/office/officeart/2018/2/layout/IconVerticalSolidList"/>
    <dgm:cxn modelId="{E2B7061A-9DAB-45AB-988A-8BD4E520DC85}" type="presParOf" srcId="{03882D96-FD3A-4198-A814-9E9B3AACFE9A}" destId="{7C9CE71E-E1A9-4433-8A0A-4FB9EFCAB1D5}" srcOrd="1" destOrd="0" presId="urn:microsoft.com/office/officeart/2018/2/layout/IconVerticalSolidList"/>
    <dgm:cxn modelId="{2827A1FB-0832-49AB-B2A7-E23AC5A6C1F6}" type="presParOf" srcId="{03882D96-FD3A-4198-A814-9E9B3AACFE9A}" destId="{37979F3E-8767-410F-BE45-B0E361F6D540}" srcOrd="2" destOrd="0" presId="urn:microsoft.com/office/officeart/2018/2/layout/IconVerticalSolidList"/>
    <dgm:cxn modelId="{BFE00F19-5DEE-4520-90B9-805952D7A3C7}" type="presParOf" srcId="{37979F3E-8767-410F-BE45-B0E361F6D540}" destId="{63DE0832-68FB-498D-8C8C-41F7FD238B0E}" srcOrd="0" destOrd="0" presId="urn:microsoft.com/office/officeart/2018/2/layout/IconVerticalSolidList"/>
    <dgm:cxn modelId="{1C0C911E-3D8E-4553-9CD2-04B6A40C314A}" type="presParOf" srcId="{37979F3E-8767-410F-BE45-B0E361F6D540}" destId="{7F29A784-6905-4F8E-9020-14D1EDD82AA6}" srcOrd="1" destOrd="0" presId="urn:microsoft.com/office/officeart/2018/2/layout/IconVerticalSolidList"/>
    <dgm:cxn modelId="{4EA613E1-C19F-469E-87C8-59F7691C70A3}" type="presParOf" srcId="{37979F3E-8767-410F-BE45-B0E361F6D540}" destId="{CF80DDA4-4B79-4937-AF39-AA1663899DC5}" srcOrd="2" destOrd="0" presId="urn:microsoft.com/office/officeart/2018/2/layout/IconVerticalSolidList"/>
    <dgm:cxn modelId="{07D3C583-1508-4851-9624-B5FFF7574230}" type="presParOf" srcId="{37979F3E-8767-410F-BE45-B0E361F6D540}" destId="{AAF59384-F64D-46C7-B1AC-A0D05E124FEE}" srcOrd="3" destOrd="0" presId="urn:microsoft.com/office/officeart/2018/2/layout/IconVerticalSolidList"/>
    <dgm:cxn modelId="{0633DE51-E5CD-4875-A09C-4500BF3F80E3}" type="presParOf" srcId="{03882D96-FD3A-4198-A814-9E9B3AACFE9A}" destId="{607CDB76-8E61-41B0-8069-0D1851E5B5ED}" srcOrd="3" destOrd="0" presId="urn:microsoft.com/office/officeart/2018/2/layout/IconVerticalSolidList"/>
    <dgm:cxn modelId="{DEC9B7F5-1E33-45ED-AB58-B35B0E38296F}" type="presParOf" srcId="{03882D96-FD3A-4198-A814-9E9B3AACFE9A}" destId="{489C9DBF-A8D8-455D-B6CD-1F82231D2221}" srcOrd="4" destOrd="0" presId="urn:microsoft.com/office/officeart/2018/2/layout/IconVerticalSolidList"/>
    <dgm:cxn modelId="{5A400B7D-0347-454C-8798-36DE8D22BBA9}" type="presParOf" srcId="{489C9DBF-A8D8-455D-B6CD-1F82231D2221}" destId="{79E82E04-4941-4D3B-98A8-EEE3C19959B4}" srcOrd="0" destOrd="0" presId="urn:microsoft.com/office/officeart/2018/2/layout/IconVerticalSolidList"/>
    <dgm:cxn modelId="{90D7945E-BD62-4E65-8264-A957B8F7FF06}" type="presParOf" srcId="{489C9DBF-A8D8-455D-B6CD-1F82231D2221}" destId="{CF887255-5467-4BC3-92A6-C7D9DD4E57DF}" srcOrd="1" destOrd="0" presId="urn:microsoft.com/office/officeart/2018/2/layout/IconVerticalSolidList"/>
    <dgm:cxn modelId="{D943B599-0314-4BF5-B403-B17284A182DE}" type="presParOf" srcId="{489C9DBF-A8D8-455D-B6CD-1F82231D2221}" destId="{3FAC316F-8A26-49BF-B3F7-F514DD40C037}" srcOrd="2" destOrd="0" presId="urn:microsoft.com/office/officeart/2018/2/layout/IconVerticalSolidList"/>
    <dgm:cxn modelId="{BA2FAA0C-6F1A-4C6B-B061-201F44F63E70}" type="presParOf" srcId="{489C9DBF-A8D8-455D-B6CD-1F82231D2221}" destId="{0212A638-167D-4F4B-8777-37FE99493391}" srcOrd="3" destOrd="0" presId="urn:microsoft.com/office/officeart/2018/2/layout/IconVerticalSolidList"/>
    <dgm:cxn modelId="{7DC685FB-C0CC-4254-9B65-C77935ED91F4}" type="presParOf" srcId="{03882D96-FD3A-4198-A814-9E9B3AACFE9A}" destId="{9BB3B725-01A1-4D70-9AB9-F1F2FFC531E4}" srcOrd="5" destOrd="0" presId="urn:microsoft.com/office/officeart/2018/2/layout/IconVerticalSolidList"/>
    <dgm:cxn modelId="{D5AA7751-E96E-4ACF-89F4-2107CB5FD263}" type="presParOf" srcId="{03882D96-FD3A-4198-A814-9E9B3AACFE9A}" destId="{BD541731-307E-4501-97D4-C5F27B3491D7}" srcOrd="6" destOrd="0" presId="urn:microsoft.com/office/officeart/2018/2/layout/IconVerticalSolidList"/>
    <dgm:cxn modelId="{00C98A70-2FAC-4F0A-A9A4-C3205F91C92E}" type="presParOf" srcId="{BD541731-307E-4501-97D4-C5F27B3491D7}" destId="{6FE57478-9A60-4CD2-8E1C-A4B755F5C7F7}" srcOrd="0" destOrd="0" presId="urn:microsoft.com/office/officeart/2018/2/layout/IconVerticalSolidList"/>
    <dgm:cxn modelId="{B12E11D8-5A69-442D-8CD3-DB7CB21AC32E}" type="presParOf" srcId="{BD541731-307E-4501-97D4-C5F27B3491D7}" destId="{57A758C3-F53C-4B7B-9564-E35322380B4E}" srcOrd="1" destOrd="0" presId="urn:microsoft.com/office/officeart/2018/2/layout/IconVerticalSolidList"/>
    <dgm:cxn modelId="{3E9F29AD-1742-415F-A699-A19D6D6B18BC}" type="presParOf" srcId="{BD541731-307E-4501-97D4-C5F27B3491D7}" destId="{C505F967-9EF0-4A94-8E44-C71205D29C73}" srcOrd="2" destOrd="0" presId="urn:microsoft.com/office/officeart/2018/2/layout/IconVerticalSolidList"/>
    <dgm:cxn modelId="{A03FBAF5-2E06-4464-B11B-4F0601F9A56C}" type="presParOf" srcId="{BD541731-307E-4501-97D4-C5F27B3491D7}" destId="{2AF7A6FE-50E2-4758-AE70-06336136991B}" srcOrd="3" destOrd="0" presId="urn:microsoft.com/office/officeart/2018/2/layout/IconVerticalSolidList"/>
    <dgm:cxn modelId="{96EA6304-86A1-4277-AA71-B02F2D2E7DF7}" type="presParOf" srcId="{03882D96-FD3A-4198-A814-9E9B3AACFE9A}" destId="{0F9D6778-201F-4201-B9F1-2ED2746CC106}" srcOrd="7" destOrd="0" presId="urn:microsoft.com/office/officeart/2018/2/layout/IconVerticalSolidList"/>
    <dgm:cxn modelId="{BF84A02A-304A-44AE-B544-D057659AB0E8}" type="presParOf" srcId="{03882D96-FD3A-4198-A814-9E9B3AACFE9A}" destId="{6DBC9EA3-9E14-48B5-9C0E-3D1B3AA24248}" srcOrd="8" destOrd="0" presId="urn:microsoft.com/office/officeart/2018/2/layout/IconVerticalSolidList"/>
    <dgm:cxn modelId="{195A7AB8-665F-4488-B305-405E1B6B8AA7}" type="presParOf" srcId="{6DBC9EA3-9E14-48B5-9C0E-3D1B3AA24248}" destId="{863FC81F-7E9C-4DA4-9FB6-C93B1B354B82}" srcOrd="0" destOrd="0" presId="urn:microsoft.com/office/officeart/2018/2/layout/IconVerticalSolidList"/>
    <dgm:cxn modelId="{C08C148B-D641-4EC3-B30F-A90AAD3B7578}" type="presParOf" srcId="{6DBC9EA3-9E14-48B5-9C0E-3D1B3AA24248}" destId="{7C061AE8-15A6-4ACD-A246-043425141102}" srcOrd="1" destOrd="0" presId="urn:microsoft.com/office/officeart/2018/2/layout/IconVerticalSolidList"/>
    <dgm:cxn modelId="{9EB27BF1-7E6D-4173-9345-7E607CCBA726}" type="presParOf" srcId="{6DBC9EA3-9E14-48B5-9C0E-3D1B3AA24248}" destId="{1EC98100-EB11-4346-9A2E-5596A1DF82EE}" srcOrd="2" destOrd="0" presId="urn:microsoft.com/office/officeart/2018/2/layout/IconVerticalSolidList"/>
    <dgm:cxn modelId="{48E42B05-B3C3-46C9-890E-871B7EE32B3A}" type="presParOf" srcId="{6DBC9EA3-9E14-48B5-9C0E-3D1B3AA24248}" destId="{95B7A131-2205-4C59-B6A4-CFF88CCC0ADC}" srcOrd="3" destOrd="0" presId="urn:microsoft.com/office/officeart/2018/2/layout/IconVerticalSolidList"/>
    <dgm:cxn modelId="{7F8B2284-676D-4679-8DC7-E760013646A5}" type="presParOf" srcId="{6DBC9EA3-9E14-48B5-9C0E-3D1B3AA24248}" destId="{28D75C95-4786-4BBF-AA33-E03CF43C12F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A05399-6BFB-4B18-8EBF-97B4210C0230}">
      <dsp:nvSpPr>
        <dsp:cNvPr id="0" name=""/>
        <dsp:cNvSpPr/>
      </dsp:nvSpPr>
      <dsp:spPr>
        <a:xfrm>
          <a:off x="0" y="43978"/>
          <a:ext cx="12192000" cy="1199227"/>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The Final Top 10 Ranking: </a:t>
          </a:r>
          <a:endParaRPr lang="en-US" sz="3000" kern="1200" dirty="0"/>
        </a:p>
      </dsp:txBody>
      <dsp:txXfrm>
        <a:off x="58541" y="102519"/>
        <a:ext cx="12074918" cy="1082145"/>
      </dsp:txXfrm>
    </dsp:sp>
    <dsp:sp modelId="{E1362EF0-4F46-4D3E-9959-F9AB56564979}">
      <dsp:nvSpPr>
        <dsp:cNvPr id="0" name=""/>
        <dsp:cNvSpPr/>
      </dsp:nvSpPr>
      <dsp:spPr>
        <a:xfrm>
          <a:off x="0" y="1329605"/>
          <a:ext cx="12192000" cy="1199227"/>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 </a:t>
          </a:r>
          <a:r>
            <a:rPr lang="en-US" sz="3000" b="1" kern="1200"/>
            <a:t>England</a:t>
          </a:r>
          <a:r>
            <a:rPr lang="en-US" sz="3000" kern="1200"/>
            <a:t> - 1,630 players 🥈 </a:t>
          </a:r>
          <a:r>
            <a:rPr lang="en-US" sz="3000" b="1" kern="1200"/>
            <a:t>Germany</a:t>
          </a:r>
          <a:r>
            <a:rPr lang="en-US" sz="3000" kern="1200"/>
            <a:t> - 1,140 players </a:t>
          </a:r>
        </a:p>
      </dsp:txBody>
      <dsp:txXfrm>
        <a:off x="58541" y="1388146"/>
        <a:ext cx="12074918" cy="1082145"/>
      </dsp:txXfrm>
    </dsp:sp>
    <dsp:sp modelId="{AA553B0D-44B1-4139-8FF0-D4347C597A22}">
      <dsp:nvSpPr>
        <dsp:cNvPr id="0" name=""/>
        <dsp:cNvSpPr/>
      </dsp:nvSpPr>
      <dsp:spPr>
        <a:xfrm>
          <a:off x="0" y="2615233"/>
          <a:ext cx="12192000" cy="1199227"/>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 </a:t>
          </a:r>
          <a:r>
            <a:rPr lang="en-US" sz="3000" b="1" kern="1200"/>
            <a:t>Spain</a:t>
          </a:r>
          <a:r>
            <a:rPr lang="en-US" sz="3000" kern="1200"/>
            <a:t> - 1,019 players </a:t>
          </a:r>
          <a:r>
            <a:rPr lang="en-US" sz="3000" b="1" kern="1200"/>
            <a:t>France</a:t>
          </a:r>
          <a:r>
            <a:rPr lang="en-US" sz="3000" kern="1200"/>
            <a:t> - 978 players </a:t>
          </a:r>
          <a:r>
            <a:rPr lang="en-US" sz="3000" b="1" kern="1200"/>
            <a:t>Argentina</a:t>
          </a:r>
          <a:r>
            <a:rPr lang="en-US" sz="3000" kern="1200"/>
            <a:t> - 965 players </a:t>
          </a:r>
        </a:p>
      </dsp:txBody>
      <dsp:txXfrm>
        <a:off x="58541" y="2673774"/>
        <a:ext cx="12074918" cy="1082145"/>
      </dsp:txXfrm>
    </dsp:sp>
    <dsp:sp modelId="{559D02DE-A9B8-474B-8E01-3A172459A00C}">
      <dsp:nvSpPr>
        <dsp:cNvPr id="0" name=""/>
        <dsp:cNvSpPr/>
      </dsp:nvSpPr>
      <dsp:spPr>
        <a:xfrm>
          <a:off x="0" y="3900860"/>
          <a:ext cx="12192000" cy="1199227"/>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Brazil</a:t>
          </a:r>
          <a:r>
            <a:rPr lang="en-US" sz="3000" kern="1200"/>
            <a:t> - 812 players </a:t>
          </a:r>
          <a:r>
            <a:rPr lang="en-US" sz="3000" b="1" kern="1200"/>
            <a:t>Italy</a:t>
          </a:r>
          <a:r>
            <a:rPr lang="en-US" sz="3000" kern="1200"/>
            <a:t> - 799 players </a:t>
          </a:r>
          <a:r>
            <a:rPr lang="en-US" sz="3000" b="1" kern="1200"/>
            <a:t>Colombia</a:t>
          </a:r>
          <a:r>
            <a:rPr lang="en-US" sz="3000" kern="1200"/>
            <a:t> - 592 players </a:t>
          </a:r>
          <a:r>
            <a:rPr lang="en-US" sz="3000" b="1" kern="1200"/>
            <a:t>Japan</a:t>
          </a:r>
          <a:r>
            <a:rPr lang="en-US" sz="3000" kern="1200"/>
            <a:t> - 469 players. </a:t>
          </a:r>
          <a:r>
            <a:rPr lang="en-US" sz="3000" b="1" kern="1200"/>
            <a:t>Netherlands</a:t>
          </a:r>
          <a:r>
            <a:rPr lang="en-US" sz="3000" kern="1200"/>
            <a:t> - </a:t>
          </a:r>
        </a:p>
      </dsp:txBody>
      <dsp:txXfrm>
        <a:off x="58541" y="3959401"/>
        <a:ext cx="12074918" cy="10821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807BB5-5E1D-4569-8C9E-9F3EE62867CC}">
      <dsp:nvSpPr>
        <dsp:cNvPr id="0" name=""/>
        <dsp:cNvSpPr/>
      </dsp:nvSpPr>
      <dsp:spPr>
        <a:xfrm>
          <a:off x="0" y="39687"/>
          <a:ext cx="3809999" cy="2286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t>Interpretation of the Scatter Plot:</a:t>
          </a:r>
          <a:endParaRPr lang="en-US" sz="2900" kern="1200"/>
        </a:p>
      </dsp:txBody>
      <dsp:txXfrm>
        <a:off x="0" y="39687"/>
        <a:ext cx="3809999" cy="2286000"/>
      </dsp:txXfrm>
    </dsp:sp>
    <dsp:sp modelId="{BC3108C5-41DD-4AAC-8C62-7AFC40D9BEF4}">
      <dsp:nvSpPr>
        <dsp:cNvPr id="0" name=""/>
        <dsp:cNvSpPr/>
      </dsp:nvSpPr>
      <dsp:spPr>
        <a:xfrm>
          <a:off x="4191000" y="39687"/>
          <a:ext cx="3809999" cy="2286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Looking at the visualization, I can see:</a:t>
          </a:r>
        </a:p>
      </dsp:txBody>
      <dsp:txXfrm>
        <a:off x="4191000" y="39687"/>
        <a:ext cx="3809999" cy="2286000"/>
      </dsp:txXfrm>
    </dsp:sp>
    <dsp:sp modelId="{18B5EA9D-FEAE-43F0-B991-877678CFD871}">
      <dsp:nvSpPr>
        <dsp:cNvPr id="0" name=""/>
        <dsp:cNvSpPr/>
      </dsp:nvSpPr>
      <dsp:spPr>
        <a:xfrm>
          <a:off x="8382000" y="39687"/>
          <a:ext cx="3809999" cy="2286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t>Dense cluster between ages 20-35</a:t>
          </a:r>
          <a:r>
            <a:rPr lang="en-US" sz="2900" kern="1200"/>
            <a:t> - Most professional players are in this age range</a:t>
          </a:r>
        </a:p>
      </dsp:txBody>
      <dsp:txXfrm>
        <a:off x="8382000" y="39687"/>
        <a:ext cx="3809999" cy="2286000"/>
      </dsp:txXfrm>
    </dsp:sp>
    <dsp:sp modelId="{FE96EC01-556D-475A-82DF-8648030E5CD8}">
      <dsp:nvSpPr>
        <dsp:cNvPr id="0" name=""/>
        <dsp:cNvSpPr/>
      </dsp:nvSpPr>
      <dsp:spPr>
        <a:xfrm>
          <a:off x="2095500" y="2706687"/>
          <a:ext cx="3809999" cy="2286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t>Overall ratings range from ~45-95</a:t>
          </a:r>
          <a:endParaRPr lang="en-US" sz="2900" kern="1200"/>
        </a:p>
      </dsp:txBody>
      <dsp:txXfrm>
        <a:off x="2095500" y="2706687"/>
        <a:ext cx="3809999" cy="2286000"/>
      </dsp:txXfrm>
    </dsp:sp>
    <dsp:sp modelId="{C56DE2BE-6D38-4B1B-9FB7-9769B0CA4CBA}">
      <dsp:nvSpPr>
        <dsp:cNvPr id="0" name=""/>
        <dsp:cNvSpPr/>
      </dsp:nvSpPr>
      <dsp:spPr>
        <a:xfrm>
          <a:off x="6286500" y="2706687"/>
          <a:ext cx="3809999" cy="2286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t>The shape shows an inverted U-pattern:</a:t>
          </a:r>
          <a:r>
            <a:rPr lang="en-US" sz="2900" kern="1200"/>
            <a:t> </a:t>
          </a:r>
        </a:p>
      </dsp:txBody>
      <dsp:txXfrm>
        <a:off x="6286500" y="2706687"/>
        <a:ext cx="3809999" cy="2286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BB859-AD43-446C-A221-A3178090233A}">
      <dsp:nvSpPr>
        <dsp:cNvPr id="0" name=""/>
        <dsp:cNvSpPr/>
      </dsp:nvSpPr>
      <dsp:spPr>
        <a:xfrm>
          <a:off x="0" y="8701"/>
          <a:ext cx="6688667" cy="107303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697016-12AB-4709-A36D-6D53E0A63B7E}">
      <dsp:nvSpPr>
        <dsp:cNvPr id="0" name=""/>
        <dsp:cNvSpPr/>
      </dsp:nvSpPr>
      <dsp:spPr>
        <a:xfrm>
          <a:off x="324593" y="250134"/>
          <a:ext cx="590746" cy="590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84BC51-AEE7-4329-9D1C-6692B5E73E2A}">
      <dsp:nvSpPr>
        <dsp:cNvPr id="0" name=""/>
        <dsp:cNvSpPr/>
      </dsp:nvSpPr>
      <dsp:spPr>
        <a:xfrm>
          <a:off x="1239932" y="8701"/>
          <a:ext cx="5411178"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844550">
            <a:lnSpc>
              <a:spcPct val="90000"/>
            </a:lnSpc>
            <a:spcBef>
              <a:spcPct val="0"/>
            </a:spcBef>
            <a:spcAft>
              <a:spcPct val="35000"/>
            </a:spcAft>
            <a:buNone/>
          </a:pPr>
          <a:r>
            <a:rPr lang="en-US" sz="1900" b="1" kern="1200"/>
            <a:t>Key Findings:</a:t>
          </a:r>
          <a:endParaRPr lang="en-US" sz="1900" kern="1200"/>
        </a:p>
      </dsp:txBody>
      <dsp:txXfrm>
        <a:off x="1239932" y="8701"/>
        <a:ext cx="5411178" cy="1140099"/>
      </dsp:txXfrm>
    </dsp:sp>
    <dsp:sp modelId="{63DE0832-68FB-498D-8C8C-41F7FD238B0E}">
      <dsp:nvSpPr>
        <dsp:cNvPr id="0" name=""/>
        <dsp:cNvSpPr/>
      </dsp:nvSpPr>
      <dsp:spPr>
        <a:xfrm>
          <a:off x="0" y="1433825"/>
          <a:ext cx="6688667" cy="107303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29A784-6905-4F8E-9020-14D1EDD82AA6}">
      <dsp:nvSpPr>
        <dsp:cNvPr id="0" name=""/>
        <dsp:cNvSpPr/>
      </dsp:nvSpPr>
      <dsp:spPr>
        <a:xfrm>
          <a:off x="324593" y="1675258"/>
          <a:ext cx="590746" cy="590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F59384-F64D-46C7-B1AC-A0D05E124FEE}">
      <dsp:nvSpPr>
        <dsp:cNvPr id="0" name=""/>
        <dsp:cNvSpPr/>
      </dsp:nvSpPr>
      <dsp:spPr>
        <a:xfrm>
          <a:off x="1239932" y="1433825"/>
          <a:ext cx="5411178"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844550">
            <a:lnSpc>
              <a:spcPct val="90000"/>
            </a:lnSpc>
            <a:spcBef>
              <a:spcPct val="0"/>
            </a:spcBef>
            <a:spcAft>
              <a:spcPct val="35000"/>
            </a:spcAft>
            <a:buNone/>
          </a:pPr>
          <a:r>
            <a:rPr lang="en-US" sz="1900" b="1" kern="1200"/>
            <a:t>Strikers (ST) - Appear to earn the MOST</a:t>
          </a:r>
          <a:r>
            <a:rPr lang="en-US" sz="1900" kern="1200"/>
            <a:t> </a:t>
          </a:r>
        </a:p>
      </dsp:txBody>
      <dsp:txXfrm>
        <a:off x="1239932" y="1433825"/>
        <a:ext cx="5411178" cy="1140099"/>
      </dsp:txXfrm>
    </dsp:sp>
    <dsp:sp modelId="{79E82E04-4941-4D3B-98A8-EEE3C19959B4}">
      <dsp:nvSpPr>
        <dsp:cNvPr id="0" name=""/>
        <dsp:cNvSpPr/>
      </dsp:nvSpPr>
      <dsp:spPr>
        <a:xfrm>
          <a:off x="0" y="2858950"/>
          <a:ext cx="6688667" cy="107303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887255-5467-4BC3-92A6-C7D9DD4E57DF}">
      <dsp:nvSpPr>
        <dsp:cNvPr id="0" name=""/>
        <dsp:cNvSpPr/>
      </dsp:nvSpPr>
      <dsp:spPr>
        <a:xfrm>
          <a:off x="324593" y="3100383"/>
          <a:ext cx="590746" cy="5901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12A638-167D-4F4B-8777-37FE99493391}">
      <dsp:nvSpPr>
        <dsp:cNvPr id="0" name=""/>
        <dsp:cNvSpPr/>
      </dsp:nvSpPr>
      <dsp:spPr>
        <a:xfrm>
          <a:off x="1239932" y="2858950"/>
          <a:ext cx="5411178"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889000">
            <a:lnSpc>
              <a:spcPct val="100000"/>
            </a:lnSpc>
            <a:spcBef>
              <a:spcPct val="0"/>
            </a:spcBef>
            <a:spcAft>
              <a:spcPct val="35000"/>
            </a:spcAft>
            <a:buNone/>
          </a:pPr>
          <a:r>
            <a:rPr lang="en-US" sz="2000" kern="1200" dirty="0">
              <a:highlight>
                <a:srgbClr val="800080"/>
              </a:highlight>
            </a:rPr>
            <a:t>The </a:t>
          </a:r>
          <a:r>
            <a:rPr lang="en-US" sz="2000" b="1" kern="1200" dirty="0">
              <a:highlight>
                <a:srgbClr val="800080"/>
              </a:highlight>
            </a:rPr>
            <a:t>highest wage points</a:t>
          </a:r>
          <a:r>
            <a:rPr lang="en-US" sz="2000" kern="1200" dirty="0">
              <a:highlight>
                <a:srgbClr val="800080"/>
              </a:highlight>
            </a:rPr>
            <a:t> (top of the chart, around 0.6M) are dominated by </a:t>
          </a:r>
          <a:r>
            <a:rPr lang="en-US" sz="2000" b="1" kern="1200" dirty="0">
              <a:highlight>
                <a:srgbClr val="800080"/>
              </a:highlight>
            </a:rPr>
            <a:t>black/dark dots (ST</a:t>
          </a:r>
          <a:r>
            <a:rPr lang="en-US" sz="1900" b="1" kern="1200" dirty="0">
              <a:highlight>
                <a:srgbClr val="800080"/>
              </a:highlight>
            </a:rPr>
            <a:t>)</a:t>
          </a:r>
          <a:endParaRPr lang="en-US" sz="1900" kern="1200" dirty="0">
            <a:highlight>
              <a:srgbClr val="800080"/>
            </a:highlight>
          </a:endParaRPr>
        </a:p>
      </dsp:txBody>
      <dsp:txXfrm>
        <a:off x="1239932" y="2858950"/>
        <a:ext cx="5411178" cy="1140099"/>
      </dsp:txXfrm>
    </dsp:sp>
    <dsp:sp modelId="{6FE57478-9A60-4CD2-8E1C-A4B755F5C7F7}">
      <dsp:nvSpPr>
        <dsp:cNvPr id="0" name=""/>
        <dsp:cNvSpPr/>
      </dsp:nvSpPr>
      <dsp:spPr>
        <a:xfrm>
          <a:off x="0" y="4284074"/>
          <a:ext cx="6688667" cy="107303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A758C3-F53C-4B7B-9564-E35322380B4E}">
      <dsp:nvSpPr>
        <dsp:cNvPr id="0" name=""/>
        <dsp:cNvSpPr/>
      </dsp:nvSpPr>
      <dsp:spPr>
        <a:xfrm>
          <a:off x="324593" y="4525507"/>
          <a:ext cx="590746" cy="5901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F7A6FE-50E2-4758-AE70-06336136991B}">
      <dsp:nvSpPr>
        <dsp:cNvPr id="0" name=""/>
        <dsp:cNvSpPr/>
      </dsp:nvSpPr>
      <dsp:spPr>
        <a:xfrm>
          <a:off x="1239932" y="4284074"/>
          <a:ext cx="5411178"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1244600">
            <a:lnSpc>
              <a:spcPct val="90000"/>
            </a:lnSpc>
            <a:spcBef>
              <a:spcPct val="0"/>
            </a:spcBef>
            <a:spcAft>
              <a:spcPct val="35000"/>
            </a:spcAft>
            <a:buNone/>
          </a:pPr>
          <a:r>
            <a:rPr lang="en-US" sz="2800" kern="1200" dirty="0"/>
            <a:t>The top-paid players are strikers</a:t>
          </a:r>
        </a:p>
      </dsp:txBody>
      <dsp:txXfrm>
        <a:off x="1239932" y="4284074"/>
        <a:ext cx="5411178" cy="1140099"/>
      </dsp:txXfrm>
    </dsp:sp>
    <dsp:sp modelId="{863FC81F-7E9C-4DA4-9FB6-C93B1B354B82}">
      <dsp:nvSpPr>
        <dsp:cNvPr id="0" name=""/>
        <dsp:cNvSpPr/>
      </dsp:nvSpPr>
      <dsp:spPr>
        <a:xfrm>
          <a:off x="0" y="5709199"/>
          <a:ext cx="6688667" cy="1073034"/>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061AE8-15A6-4ACD-A246-043425141102}">
      <dsp:nvSpPr>
        <dsp:cNvPr id="0" name=""/>
        <dsp:cNvSpPr/>
      </dsp:nvSpPr>
      <dsp:spPr>
        <a:xfrm>
          <a:off x="324593" y="5950632"/>
          <a:ext cx="590746" cy="5901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B7A131-2205-4C59-B6A4-CFF88CCC0ADC}">
      <dsp:nvSpPr>
        <dsp:cNvPr id="0" name=""/>
        <dsp:cNvSpPr/>
      </dsp:nvSpPr>
      <dsp:spPr>
        <a:xfrm>
          <a:off x="1239932" y="5709199"/>
          <a:ext cx="3009900"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844550">
            <a:lnSpc>
              <a:spcPct val="90000"/>
            </a:lnSpc>
            <a:spcBef>
              <a:spcPct val="0"/>
            </a:spcBef>
            <a:spcAft>
              <a:spcPct val="35000"/>
            </a:spcAft>
            <a:buNone/>
          </a:pPr>
          <a:r>
            <a:rPr lang="en-US" sz="1900" b="1" kern="1200"/>
            <a:t>Left Wingers (LW) and Right Wingers (RW) - Similar wages</a:t>
          </a:r>
          <a:r>
            <a:rPr lang="en-US" sz="1900" kern="1200"/>
            <a:t> </a:t>
          </a:r>
        </a:p>
      </dsp:txBody>
      <dsp:txXfrm>
        <a:off x="1239932" y="5709199"/>
        <a:ext cx="3009900" cy="1140099"/>
      </dsp:txXfrm>
    </dsp:sp>
    <dsp:sp modelId="{28D75C95-4786-4BBF-AA33-E03CF43C12FF}">
      <dsp:nvSpPr>
        <dsp:cNvPr id="0" name=""/>
        <dsp:cNvSpPr/>
      </dsp:nvSpPr>
      <dsp:spPr>
        <a:xfrm>
          <a:off x="4249832" y="5709199"/>
          <a:ext cx="2401278" cy="114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661" tIns="120661" rIns="120661" bIns="120661" numCol="1" spcCol="1270" anchor="ctr" anchorCtr="0">
          <a:noAutofit/>
        </a:bodyPr>
        <a:lstStyle/>
        <a:p>
          <a:pPr marL="0" lvl="0" indent="0" algn="l" defTabSz="533400">
            <a:lnSpc>
              <a:spcPct val="90000"/>
            </a:lnSpc>
            <a:spcBef>
              <a:spcPct val="0"/>
            </a:spcBef>
            <a:spcAft>
              <a:spcPct val="35000"/>
            </a:spcAft>
            <a:buNone/>
          </a:pPr>
          <a:r>
            <a:rPr lang="en-US" sz="1200" kern="1200" dirty="0"/>
            <a:t>Green (LW) and purple/pink (RW) dots are mixed throughout</a:t>
          </a:r>
        </a:p>
        <a:p>
          <a:pPr marL="0" lvl="0" indent="0" algn="l" defTabSz="533400">
            <a:lnSpc>
              <a:spcPct val="90000"/>
            </a:lnSpc>
            <a:spcBef>
              <a:spcPct val="0"/>
            </a:spcBef>
            <a:spcAft>
              <a:spcPct val="35000"/>
            </a:spcAft>
            <a:buNone/>
          </a:pPr>
          <a:r>
            <a:rPr lang="en-US" sz="1200" kern="1200" dirty="0"/>
            <a:t>They appear to have comparable wage distributions Slightly lower than strikers at the very top end</a:t>
          </a:r>
        </a:p>
      </dsp:txBody>
      <dsp:txXfrm>
        <a:off x="4249832" y="5709199"/>
        <a:ext cx="2401278" cy="11400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0255-A424-1D3C-0149-A4FA924FDE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24548994-C00A-7E71-B237-79786277EE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10EE4596-4836-FF91-DB4B-CF3EB0CD2BFD}"/>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C356051A-977F-FDEA-57A3-C7D50A172E2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11386A6-86BF-D9CE-3E48-8C63DB1FA327}"/>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1933375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0D3F-F498-7BBB-8D07-C70FB637182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5967E16-5CBA-721D-5C0A-E4FC986A8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E9B8A4C-A115-2F7F-ED6D-3F3EEC63E38E}"/>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61EB9F30-C866-8FA7-4D8F-9B77F9EF934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9279679-8C77-C9A5-30D0-8AFB19FC5A65}"/>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2392621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237F3-8653-6B17-F134-81D442A5DD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966C659F-A01D-27CB-70EE-637E33C9BA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49FE0-61BC-CA7A-BA27-ADCE534913E3}"/>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8A280286-8350-7362-DE73-EA6B34F10A4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8AC4EB6-D860-2A69-336A-5B131CD1D828}"/>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1359432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167DC-38AA-6CD7-E3EE-6A24344EAD3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7BE560B-07A5-9D8A-BA84-CCC192E83E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1D91E6FD-2C39-60AC-DCD7-66EB2E3B5B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8B76FCAE-3962-0558-A2B3-3A3EB61BC9CC}"/>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6" name="Footer Placeholder 5">
            <a:extLst>
              <a:ext uri="{FF2B5EF4-FFF2-40B4-BE49-F238E27FC236}">
                <a16:creationId xmlns:a16="http://schemas.microsoft.com/office/drawing/2014/main" id="{5AC51EE9-BBF5-9B53-C77E-EFBF35B1715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6B45FA8-CC1E-F50A-8AB2-FF022F7A9530}"/>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1825292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7D850-BCE1-42C7-C0B9-3A7965C28CAF}"/>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907E63F-4D2C-851C-75FD-41F8B52AD1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EFAE06-9BEA-7597-A42F-B0F99D2B69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ECF10714-51C3-21E2-50F1-A084ADF5A5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B404BD-E796-FAFA-ED95-7A2F9996C8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1D1FA0AC-3313-BC3A-FC6F-393CD29591D7}"/>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8" name="Footer Placeholder 7">
            <a:extLst>
              <a:ext uri="{FF2B5EF4-FFF2-40B4-BE49-F238E27FC236}">
                <a16:creationId xmlns:a16="http://schemas.microsoft.com/office/drawing/2014/main" id="{BC507E8D-3AD6-31B3-ED43-2824D8B77070}"/>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99EACEBB-04CB-9F27-F9AC-FD6E03A47A52}"/>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214381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D1BBF-572A-36E7-FD20-6C696D35F95A}"/>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B1C129B2-8E41-5C20-2A07-EC44F6F8234C}"/>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4" name="Footer Placeholder 3">
            <a:extLst>
              <a:ext uri="{FF2B5EF4-FFF2-40B4-BE49-F238E27FC236}">
                <a16:creationId xmlns:a16="http://schemas.microsoft.com/office/drawing/2014/main" id="{73F14507-71F4-A250-5326-38FFB0433196}"/>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99F9CA7A-2A89-3427-E36E-B3660394B640}"/>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132933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4C10DE-D039-9DC9-C94F-1864001E9033}"/>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3" name="Footer Placeholder 2">
            <a:extLst>
              <a:ext uri="{FF2B5EF4-FFF2-40B4-BE49-F238E27FC236}">
                <a16:creationId xmlns:a16="http://schemas.microsoft.com/office/drawing/2014/main" id="{DD0F8134-6D4A-5219-9D23-2F7BAA6F7091}"/>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53739D79-AB15-2FDB-A8EA-BE2D8F46A764}"/>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2697112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9A9EF-F2D7-F86B-5696-C18967F8CA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AD3E257-5887-70F9-7896-788CED9102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C43CCCC2-4889-5BA2-DAB4-E39FDFA520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A30C75-A113-3FA2-B696-53008EBB46F1}"/>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6" name="Footer Placeholder 5">
            <a:extLst>
              <a:ext uri="{FF2B5EF4-FFF2-40B4-BE49-F238E27FC236}">
                <a16:creationId xmlns:a16="http://schemas.microsoft.com/office/drawing/2014/main" id="{9366F515-AAF7-A0F3-4121-AB82D31921C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A8782AB-574C-13D7-CAD6-0AF0950B77D2}"/>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302032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9208-614E-A1E5-7608-19B398E42A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B4B0F65F-A313-9250-D332-C4F4CF04E5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780E0E1-C719-A351-6BFD-05DAAECCD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9B04C3-A4DA-D0EC-501B-798CE5B09057}"/>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6" name="Footer Placeholder 5">
            <a:extLst>
              <a:ext uri="{FF2B5EF4-FFF2-40B4-BE49-F238E27FC236}">
                <a16:creationId xmlns:a16="http://schemas.microsoft.com/office/drawing/2014/main" id="{C84163B0-59AF-BE88-FDCB-1A669DCAADC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62A1D0E-3F74-708A-44BF-CC4045844656}"/>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285228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13D9F-8909-11A8-8C38-28E48CBF2AFB}"/>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CB285F0E-24D0-D556-EBA3-71A65D787E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B4BDD2D-727C-A0A4-5F1D-EB8FA8D0C058}"/>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E649501D-336A-3795-5109-43709139511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3B95AAD-7576-495B-60BD-A956F9902F05}"/>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803566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604D67-E1FF-1EE7-8CF6-F3E0B1BD63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B7012F8-B097-082B-D18A-6C477A303A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3CAC722-3521-4D40-7FCB-AA92614D5983}"/>
              </a:ext>
            </a:extLst>
          </p:cNvPr>
          <p:cNvSpPr>
            <a:spLocks noGrp="1"/>
          </p:cNvSpPr>
          <p:nvPr>
            <p:ph type="dt" sz="half" idx="10"/>
          </p:nvPr>
        </p:nvSpPr>
        <p:spPr/>
        <p:txBody>
          <a:body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EF4ABDE2-009E-9ECD-98EE-44C742321DA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5D17147-FDD1-9821-863C-EA5D5E797BB2}"/>
              </a:ext>
            </a:extLst>
          </p:cNvPr>
          <p:cNvSpPr>
            <a:spLocks noGrp="1"/>
          </p:cNvSpPr>
          <p:nvPr>
            <p:ph type="sldNum" sz="quarter" idx="12"/>
          </p:nvPr>
        </p:nvSpPr>
        <p:spPr/>
        <p:txBody>
          <a:bodyPr/>
          <a:lstStyle/>
          <a:p>
            <a:fld id="{82BE2D89-4C34-4B98-B968-6307F2BAB75E}" type="slidenum">
              <a:rPr lang="en-ZA" smtClean="0"/>
              <a:t>‹#›</a:t>
            </a:fld>
            <a:endParaRPr lang="en-ZA"/>
          </a:p>
        </p:txBody>
      </p:sp>
    </p:spTree>
    <p:extLst>
      <p:ext uri="{BB962C8B-B14F-4D97-AF65-F5344CB8AC3E}">
        <p14:creationId xmlns:p14="http://schemas.microsoft.com/office/powerpoint/2010/main" val="126909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0884B7-4B22-D653-7B87-30707F319E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48E41CF-0435-FEC8-0D9A-B2C0981290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6D0CF69-6DB3-3337-F493-649E4A8C81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DC5D80-C5AA-46E2-8554-C2DAD198001B}" type="datetimeFigureOut">
              <a:rPr lang="en-ZA" smtClean="0"/>
              <a:t>2025/11/13</a:t>
            </a:fld>
            <a:endParaRPr lang="en-ZA"/>
          </a:p>
        </p:txBody>
      </p:sp>
      <p:sp>
        <p:nvSpPr>
          <p:cNvPr id="5" name="Footer Placeholder 4">
            <a:extLst>
              <a:ext uri="{FF2B5EF4-FFF2-40B4-BE49-F238E27FC236}">
                <a16:creationId xmlns:a16="http://schemas.microsoft.com/office/drawing/2014/main" id="{B4D6AE3B-3B82-ECE9-35D3-2207FB938D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FE190E2-C256-60D9-68B3-3543815657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BE2D89-4C34-4B98-B968-6307F2BAB75E}" type="slidenum">
              <a:rPr lang="en-ZA" smtClean="0"/>
              <a:t>‹#›</a:t>
            </a:fld>
            <a:endParaRPr lang="en-ZA"/>
          </a:p>
        </p:txBody>
      </p:sp>
    </p:spTree>
    <p:extLst>
      <p:ext uri="{BB962C8B-B14F-4D97-AF65-F5344CB8AC3E}">
        <p14:creationId xmlns:p14="http://schemas.microsoft.com/office/powerpoint/2010/main" val="1877907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Arc 47">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1583"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0" name="Oval 49">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9419"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2F4669-E074-FA68-7F6E-02C5A267FC8A}"/>
              </a:ext>
            </a:extLst>
          </p:cNvPr>
          <p:cNvSpPr>
            <a:spLocks noGrp="1"/>
          </p:cNvSpPr>
          <p:nvPr>
            <p:ph type="title"/>
          </p:nvPr>
        </p:nvSpPr>
        <p:spPr>
          <a:xfrm>
            <a:off x="527542" y="128257"/>
            <a:ext cx="4467792" cy="4206676"/>
          </a:xfrm>
        </p:spPr>
        <p:txBody>
          <a:bodyPr vert="horz" lIns="91440" tIns="45720" rIns="91440" bIns="45720" rtlCol="0" anchor="b">
            <a:normAutofit/>
          </a:bodyPr>
          <a:lstStyle/>
          <a:p>
            <a:pPr algn="ctr"/>
            <a:r>
              <a:rPr lang="en-US" sz="3800" kern="1200" dirty="0">
                <a:solidFill>
                  <a:srgbClr val="FFFFFF"/>
                </a:solidFill>
                <a:highlight>
                  <a:srgbClr val="800000"/>
                </a:highlight>
                <a:latin typeface="+mj-lt"/>
                <a:ea typeface="+mj-ea"/>
                <a:cs typeface="+mj-cs"/>
              </a:rPr>
              <a:t>FIFA 2018 Player Performance and Positional Analytics </a:t>
            </a:r>
            <a:br>
              <a:rPr lang="en-US" sz="3800" kern="1200" dirty="0">
                <a:solidFill>
                  <a:srgbClr val="FFFFFF"/>
                </a:solidFill>
                <a:highlight>
                  <a:srgbClr val="800000"/>
                </a:highlight>
                <a:latin typeface="+mj-lt"/>
                <a:ea typeface="+mj-ea"/>
                <a:cs typeface="+mj-cs"/>
              </a:rPr>
            </a:br>
            <a:r>
              <a:rPr lang="en-US" sz="3800" b="1" kern="1200" dirty="0">
                <a:solidFill>
                  <a:srgbClr val="FFFFFF"/>
                </a:solidFill>
                <a:highlight>
                  <a:srgbClr val="800000"/>
                </a:highlight>
                <a:latin typeface="+mj-lt"/>
                <a:ea typeface="+mj-ea"/>
                <a:cs typeface="+mj-cs"/>
              </a:rPr>
              <a:t>Project Submission</a:t>
            </a:r>
          </a:p>
        </p:txBody>
      </p:sp>
      <p:sp>
        <p:nvSpPr>
          <p:cNvPr id="3" name="Content Placeholder 2">
            <a:extLst>
              <a:ext uri="{FF2B5EF4-FFF2-40B4-BE49-F238E27FC236}">
                <a16:creationId xmlns:a16="http://schemas.microsoft.com/office/drawing/2014/main" id="{EA0593BD-B7FF-0A4F-4685-48D13FE0AFA4}"/>
              </a:ext>
            </a:extLst>
          </p:cNvPr>
          <p:cNvSpPr>
            <a:spLocks noGrp="1"/>
          </p:cNvSpPr>
          <p:nvPr>
            <p:ph idx="1"/>
          </p:nvPr>
        </p:nvSpPr>
        <p:spPr>
          <a:xfrm>
            <a:off x="838200" y="4701743"/>
            <a:ext cx="4467792" cy="1508664"/>
          </a:xfrm>
        </p:spPr>
        <p:txBody>
          <a:bodyPr vert="horz" lIns="91440" tIns="45720" rIns="91440" bIns="45720" rtlCol="0">
            <a:normAutofit/>
          </a:bodyPr>
          <a:lstStyle/>
          <a:p>
            <a:pPr marL="0" indent="0" algn="ctr">
              <a:buNone/>
            </a:pPr>
            <a:endParaRPr lang="en-US" sz="2400" b="1" kern="1200" dirty="0">
              <a:solidFill>
                <a:srgbClr val="FFFFFF"/>
              </a:solidFill>
              <a:highlight>
                <a:srgbClr val="000000"/>
              </a:highlight>
              <a:latin typeface="+mn-lt"/>
              <a:ea typeface="+mn-ea"/>
              <a:cs typeface="+mn-cs"/>
            </a:endParaRPr>
          </a:p>
          <a:p>
            <a:pPr marL="0" indent="0" algn="ctr">
              <a:buNone/>
            </a:pPr>
            <a:endParaRPr lang="en-US" sz="2400" b="1" dirty="0">
              <a:solidFill>
                <a:srgbClr val="FFFFFF"/>
              </a:solidFill>
              <a:highlight>
                <a:srgbClr val="000000"/>
              </a:highlight>
            </a:endParaRPr>
          </a:p>
          <a:p>
            <a:pPr marL="0" indent="0" algn="ctr">
              <a:buNone/>
            </a:pPr>
            <a:r>
              <a:rPr lang="en-US" sz="3200" b="1" kern="1200" dirty="0">
                <a:solidFill>
                  <a:srgbClr val="FFFFFF"/>
                </a:solidFill>
                <a:highlight>
                  <a:srgbClr val="000000"/>
                </a:highlight>
                <a:latin typeface="+mn-lt"/>
                <a:ea typeface="+mn-ea"/>
                <a:cs typeface="+mn-cs"/>
              </a:rPr>
              <a:t>Presenter: Victor </a:t>
            </a:r>
            <a:r>
              <a:rPr lang="en-US" sz="3200" b="1" kern="1200" dirty="0" err="1">
                <a:solidFill>
                  <a:srgbClr val="FFFFFF"/>
                </a:solidFill>
                <a:highlight>
                  <a:srgbClr val="000000"/>
                </a:highlight>
                <a:latin typeface="+mn-lt"/>
                <a:ea typeface="+mn-ea"/>
                <a:cs typeface="+mn-cs"/>
              </a:rPr>
              <a:t>Prefa</a:t>
            </a:r>
            <a:endParaRPr lang="en-US" sz="3200" b="1" kern="1200" dirty="0">
              <a:solidFill>
                <a:srgbClr val="FFFFFF"/>
              </a:solidFill>
              <a:highlight>
                <a:srgbClr val="000000"/>
              </a:highlight>
              <a:latin typeface="+mn-lt"/>
              <a:ea typeface="+mn-ea"/>
              <a:cs typeface="+mn-cs"/>
            </a:endParaRPr>
          </a:p>
        </p:txBody>
      </p:sp>
      <p:pic>
        <p:nvPicPr>
          <p:cNvPr id="35" name="Graphic 34" descr="Soccer">
            <a:extLst>
              <a:ext uri="{FF2B5EF4-FFF2-40B4-BE49-F238E27FC236}">
                <a16:creationId xmlns:a16="http://schemas.microsoft.com/office/drawing/2014/main" id="{F8C5FDE6-60BE-0B91-30F0-4CE6142C6DA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3623"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pic>
        <p:nvPicPr>
          <p:cNvPr id="5" name="Picture 4">
            <a:extLst>
              <a:ext uri="{FF2B5EF4-FFF2-40B4-BE49-F238E27FC236}">
                <a16:creationId xmlns:a16="http://schemas.microsoft.com/office/drawing/2014/main" id="{DBE7AFEE-4F8C-79B9-DA83-14BDFF626192}"/>
              </a:ext>
            </a:extLst>
          </p:cNvPr>
          <p:cNvPicPr>
            <a:picLocks noChangeAspect="1"/>
          </p:cNvPicPr>
          <p:nvPr/>
        </p:nvPicPr>
        <p:blipFill>
          <a:blip r:embed="rId4"/>
          <a:stretch>
            <a:fillRect/>
          </a:stretch>
        </p:blipFill>
        <p:spPr>
          <a:xfrm>
            <a:off x="0" y="0"/>
            <a:ext cx="12192000" cy="7264400"/>
          </a:xfrm>
          <a:prstGeom prst="rect">
            <a:avLst/>
          </a:prstGeom>
        </p:spPr>
      </p:pic>
    </p:spTree>
    <p:extLst>
      <p:ext uri="{BB962C8B-B14F-4D97-AF65-F5344CB8AC3E}">
        <p14:creationId xmlns:p14="http://schemas.microsoft.com/office/powerpoint/2010/main" val="1095500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E2D0-7056-3388-81A3-B490E74DC15A}"/>
              </a:ext>
            </a:extLst>
          </p:cNvPr>
          <p:cNvSpPr>
            <a:spLocks noGrp="1"/>
          </p:cNvSpPr>
          <p:nvPr>
            <p:ph type="title"/>
          </p:nvPr>
        </p:nvSpPr>
        <p:spPr>
          <a:xfrm>
            <a:off x="0" y="1"/>
            <a:ext cx="4847165" cy="6688666"/>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Autofit/>
          </a:bodyPr>
          <a:lstStyle/>
          <a:p>
            <a:pPr algn="ctr">
              <a:lnSpc>
                <a:spcPct val="150000"/>
              </a:lnSpc>
            </a:pPr>
            <a:r>
              <a:rPr lang="en-US" sz="2800" kern="1200" dirty="0">
                <a:solidFill>
                  <a:schemeClr val="bg1"/>
                </a:solidFill>
                <a:latin typeface="+mj-lt"/>
                <a:ea typeface="+mj-ea"/>
                <a:cs typeface="+mj-cs"/>
              </a:rPr>
              <a:t>Rank ordered list of top 10 countries with most players.  Showing the countries  producing the most numbers of footballers that plays at this level</a:t>
            </a:r>
          </a:p>
        </p:txBody>
      </p:sp>
      <p:pic>
        <p:nvPicPr>
          <p:cNvPr id="5" name="Content Placeholder 4">
            <a:extLst>
              <a:ext uri="{FF2B5EF4-FFF2-40B4-BE49-F238E27FC236}">
                <a16:creationId xmlns:a16="http://schemas.microsoft.com/office/drawing/2014/main" id="{7C278419-0CCE-AC03-1A77-DA326B3CDCFF}"/>
              </a:ext>
            </a:extLst>
          </p:cNvPr>
          <p:cNvPicPr>
            <a:picLocks noGrp="1" noChangeAspect="1"/>
          </p:cNvPicPr>
          <p:nvPr>
            <p:ph idx="1"/>
          </p:nvPr>
        </p:nvPicPr>
        <p:blipFill>
          <a:blip r:embed="rId2"/>
          <a:stretch>
            <a:fillRect/>
          </a:stretch>
        </p:blipFill>
        <p:spPr>
          <a:xfrm>
            <a:off x="4847165" y="0"/>
            <a:ext cx="7463367" cy="6858000"/>
          </a:xfrm>
          <a:prstGeom prst="rect">
            <a:avLst/>
          </a:prstGeom>
        </p:spPr>
      </p:pic>
    </p:spTree>
    <p:extLst>
      <p:ext uri="{BB962C8B-B14F-4D97-AF65-F5344CB8AC3E}">
        <p14:creationId xmlns:p14="http://schemas.microsoft.com/office/powerpoint/2010/main" val="167834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Isosceles Triangle 3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F23DF-55FF-FB17-963D-133E63B48967}"/>
              </a:ext>
            </a:extLst>
          </p:cNvPr>
          <p:cNvSpPr>
            <a:spLocks noGrp="1"/>
          </p:cNvSpPr>
          <p:nvPr>
            <p:ph type="title"/>
          </p:nvPr>
        </p:nvSpPr>
        <p:spPr>
          <a:xfrm>
            <a:off x="0" y="1"/>
            <a:ext cx="12192000" cy="1709776"/>
          </a:xfrm>
        </p:spPr>
        <p:txBody>
          <a:bodyPr>
            <a:noAutofit/>
          </a:bodyPr>
          <a:lstStyle/>
          <a:p>
            <a:pPr>
              <a:lnSpc>
                <a:spcPct val="150000"/>
              </a:lnSpc>
            </a:pPr>
            <a:r>
              <a:rPr lang="en-US" sz="3600" dirty="0">
                <a:highlight>
                  <a:srgbClr val="FFFF00"/>
                </a:highlight>
              </a:rPr>
              <a:t>Top ten countries by player count Sorted by total Players(Descending) </a:t>
            </a:r>
            <a:endParaRPr lang="en-ZA" sz="3600" dirty="0">
              <a:highlight>
                <a:srgbClr val="FFFF00"/>
              </a:highlight>
            </a:endParaRPr>
          </a:p>
        </p:txBody>
      </p:sp>
      <p:graphicFrame>
        <p:nvGraphicFramePr>
          <p:cNvPr id="18" name="Content Placeholder 2">
            <a:extLst>
              <a:ext uri="{FF2B5EF4-FFF2-40B4-BE49-F238E27FC236}">
                <a16:creationId xmlns:a16="http://schemas.microsoft.com/office/drawing/2014/main" id="{E9CAB16F-CAE0-9D00-5529-88E4BA8BA1A8}"/>
              </a:ext>
            </a:extLst>
          </p:cNvPr>
          <p:cNvGraphicFramePr>
            <a:graphicFrameLocks noGrp="1"/>
          </p:cNvGraphicFramePr>
          <p:nvPr>
            <p:ph idx="1"/>
            <p:extLst>
              <p:ext uri="{D42A27DB-BD31-4B8C-83A1-F6EECF244321}">
                <p14:modId xmlns:p14="http://schemas.microsoft.com/office/powerpoint/2010/main" val="2506944267"/>
              </p:ext>
            </p:extLst>
          </p:nvPr>
        </p:nvGraphicFramePr>
        <p:xfrm>
          <a:off x="1" y="1713933"/>
          <a:ext cx="12192000" cy="5144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7580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C3E11-86D8-06F4-3152-06350A1DD91E}"/>
              </a:ext>
            </a:extLst>
          </p:cNvPr>
          <p:cNvSpPr>
            <a:spLocks noGrp="1"/>
          </p:cNvSpPr>
          <p:nvPr>
            <p:ph type="title"/>
          </p:nvPr>
        </p:nvSpPr>
        <p:spPr>
          <a:xfrm>
            <a:off x="0" y="0"/>
            <a:ext cx="12192000" cy="1470555"/>
          </a:xfrm>
        </p:spPr>
        <p:txBody>
          <a:bodyPr/>
          <a:lstStyle/>
          <a:p>
            <a:r>
              <a:rPr lang="en-US" dirty="0">
                <a:solidFill>
                  <a:schemeClr val="bg1"/>
                </a:solidFill>
                <a:highlight>
                  <a:srgbClr val="800080"/>
                </a:highlight>
              </a:rPr>
              <a:t>      </a:t>
            </a:r>
            <a:r>
              <a:rPr lang="en-US" b="1" dirty="0">
                <a:solidFill>
                  <a:schemeClr val="bg1"/>
                </a:solidFill>
                <a:highlight>
                  <a:srgbClr val="800080"/>
                </a:highlight>
              </a:rPr>
              <a:t>Overall Rating by Age</a:t>
            </a:r>
            <a:endParaRPr lang="en-ZA" b="1" dirty="0">
              <a:solidFill>
                <a:schemeClr val="bg1"/>
              </a:solidFill>
              <a:highlight>
                <a:srgbClr val="800080"/>
              </a:highlight>
            </a:endParaRPr>
          </a:p>
        </p:txBody>
      </p:sp>
      <p:pic>
        <p:nvPicPr>
          <p:cNvPr id="5" name="Content Placeholder 4">
            <a:extLst>
              <a:ext uri="{FF2B5EF4-FFF2-40B4-BE49-F238E27FC236}">
                <a16:creationId xmlns:a16="http://schemas.microsoft.com/office/drawing/2014/main" id="{4B9A00FD-8E7F-CE52-568C-8A26D7BD6C80}"/>
              </a:ext>
            </a:extLst>
          </p:cNvPr>
          <p:cNvPicPr>
            <a:picLocks noGrp="1" noChangeAspect="1"/>
          </p:cNvPicPr>
          <p:nvPr>
            <p:ph idx="1"/>
          </p:nvPr>
        </p:nvPicPr>
        <p:blipFill>
          <a:blip r:embed="rId2"/>
          <a:stretch>
            <a:fillRect/>
          </a:stretch>
        </p:blipFill>
        <p:spPr>
          <a:xfrm>
            <a:off x="-118534" y="1117599"/>
            <a:ext cx="12310533" cy="6383867"/>
          </a:xfrm>
          <a:prstGeom prst="rect">
            <a:avLst/>
          </a:prstGeom>
        </p:spPr>
      </p:pic>
    </p:spTree>
    <p:extLst>
      <p:ext uri="{BB962C8B-B14F-4D97-AF65-F5344CB8AC3E}">
        <p14:creationId xmlns:p14="http://schemas.microsoft.com/office/powerpoint/2010/main" val="2030997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0FDA-0F2F-5DA7-594B-244836A2742F}"/>
              </a:ext>
            </a:extLst>
          </p:cNvPr>
          <p:cNvSpPr>
            <a:spLocks noGrp="1"/>
          </p:cNvSpPr>
          <p:nvPr>
            <p:ph type="title"/>
          </p:nvPr>
        </p:nvSpPr>
        <p:spPr>
          <a:xfrm>
            <a:off x="152400" y="1"/>
            <a:ext cx="11201400" cy="1690688"/>
          </a:xfrm>
        </p:spPr>
        <p:txBody>
          <a:bodyPr/>
          <a:lstStyle/>
          <a:p>
            <a:r>
              <a:rPr lang="en-US" dirty="0">
                <a:highlight>
                  <a:srgbClr val="C0C0C0"/>
                </a:highlight>
              </a:rPr>
              <a:t>Interpretation</a:t>
            </a:r>
            <a:endParaRPr lang="en-ZA" dirty="0">
              <a:highlight>
                <a:srgbClr val="C0C0C0"/>
              </a:highlight>
            </a:endParaRPr>
          </a:p>
        </p:txBody>
      </p:sp>
      <p:graphicFrame>
        <p:nvGraphicFramePr>
          <p:cNvPr id="5" name="Content Placeholder 2">
            <a:extLst>
              <a:ext uri="{FF2B5EF4-FFF2-40B4-BE49-F238E27FC236}">
                <a16:creationId xmlns:a16="http://schemas.microsoft.com/office/drawing/2014/main" id="{91662DA3-5F01-ABD0-FAF1-6D2D883A8AA9}"/>
              </a:ext>
            </a:extLst>
          </p:cNvPr>
          <p:cNvGraphicFramePr>
            <a:graphicFrameLocks noGrp="1"/>
          </p:cNvGraphicFramePr>
          <p:nvPr>
            <p:ph idx="1"/>
            <p:extLst>
              <p:ext uri="{D42A27DB-BD31-4B8C-83A1-F6EECF244321}">
                <p14:modId xmlns:p14="http://schemas.microsoft.com/office/powerpoint/2010/main" val="310022466"/>
              </p:ext>
            </p:extLst>
          </p:nvPr>
        </p:nvGraphicFramePr>
        <p:xfrm>
          <a:off x="0" y="1825624"/>
          <a:ext cx="12192000" cy="5032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2345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EB9CD-5DA0-041D-BB57-8561E4FB2957}"/>
              </a:ext>
            </a:extLst>
          </p:cNvPr>
          <p:cNvSpPr>
            <a:spLocks noGrp="1"/>
          </p:cNvSpPr>
          <p:nvPr>
            <p:ph type="title"/>
          </p:nvPr>
        </p:nvSpPr>
        <p:spPr>
          <a:xfrm>
            <a:off x="336884" y="742951"/>
            <a:ext cx="4332307" cy="5748050"/>
          </a:xfrm>
        </p:spPr>
        <p:txBody>
          <a:bodyPr vert="horz" lIns="91440" tIns="45720" rIns="91440" bIns="45720" rtlCol="0" anchor="ctr">
            <a:normAutofit/>
          </a:bodyPr>
          <a:lstStyle/>
          <a:p>
            <a:pPr algn="ctr">
              <a:lnSpc>
                <a:spcPct val="150000"/>
              </a:lnSpc>
            </a:pPr>
            <a:r>
              <a:rPr lang="en-US" sz="4800" kern="1200" dirty="0">
                <a:solidFill>
                  <a:srgbClr val="FFFFFF"/>
                </a:solidFill>
                <a:latin typeface="+mj-lt"/>
                <a:ea typeface="+mj-ea"/>
                <a:cs typeface="+mj-cs"/>
              </a:rPr>
              <a:t>The Most  Paid Player Among LW, RW and ST </a:t>
            </a:r>
          </a:p>
        </p:txBody>
      </p:sp>
      <p:pic>
        <p:nvPicPr>
          <p:cNvPr id="5" name="Content Placeholder 4">
            <a:extLst>
              <a:ext uri="{FF2B5EF4-FFF2-40B4-BE49-F238E27FC236}">
                <a16:creationId xmlns:a16="http://schemas.microsoft.com/office/drawing/2014/main" id="{0220D282-7533-5EE5-54C0-86B430CE7D22}"/>
              </a:ext>
            </a:extLst>
          </p:cNvPr>
          <p:cNvPicPr>
            <a:picLocks noGrp="1" noChangeAspect="1"/>
          </p:cNvPicPr>
          <p:nvPr>
            <p:ph idx="1"/>
          </p:nvPr>
        </p:nvPicPr>
        <p:blipFill>
          <a:blip r:embed="rId2"/>
          <a:stretch>
            <a:fillRect/>
          </a:stretch>
        </p:blipFill>
        <p:spPr>
          <a:xfrm>
            <a:off x="5153822" y="1"/>
            <a:ext cx="6902711" cy="6739466"/>
          </a:xfrm>
          <a:prstGeom prst="rect">
            <a:avLst/>
          </a:prstGeom>
        </p:spPr>
      </p:pic>
    </p:spTree>
    <p:extLst>
      <p:ext uri="{BB962C8B-B14F-4D97-AF65-F5344CB8AC3E}">
        <p14:creationId xmlns:p14="http://schemas.microsoft.com/office/powerpoint/2010/main" val="329088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080B15-B8AA-96DC-13B9-4ECEE4CB9685}"/>
              </a:ext>
            </a:extLst>
          </p:cNvPr>
          <p:cNvSpPr>
            <a:spLocks noGrp="1"/>
          </p:cNvSpPr>
          <p:nvPr>
            <p:ph type="title"/>
          </p:nvPr>
        </p:nvSpPr>
        <p:spPr>
          <a:xfrm>
            <a:off x="-1" y="0"/>
            <a:ext cx="5198531" cy="6858000"/>
          </a:xfrm>
        </p:spPr>
        <p:txBody>
          <a:bodyPr>
            <a:normAutofit/>
          </a:bodyPr>
          <a:lstStyle/>
          <a:p>
            <a:pPr>
              <a:lnSpc>
                <a:spcPct val="150000"/>
              </a:lnSpc>
            </a:pPr>
            <a:br>
              <a:rPr lang="en-US" sz="4000" b="1" dirty="0"/>
            </a:br>
            <a:r>
              <a:rPr lang="en-US" sz="4000" b="1" dirty="0">
                <a:solidFill>
                  <a:schemeClr val="bg1"/>
                </a:solidFill>
                <a:highlight>
                  <a:srgbClr val="800080"/>
                </a:highlight>
              </a:rPr>
              <a:t>Interpretation: Which Position Gets Paid the Most?</a:t>
            </a:r>
            <a:br>
              <a:rPr lang="en-US" sz="4000" b="1" dirty="0">
                <a:solidFill>
                  <a:schemeClr val="bg1"/>
                </a:solidFill>
                <a:highlight>
                  <a:srgbClr val="800080"/>
                </a:highlight>
              </a:rPr>
            </a:br>
            <a:endParaRPr lang="en-ZA" sz="4000" dirty="0">
              <a:solidFill>
                <a:schemeClr val="bg1"/>
              </a:solidFill>
              <a:highlight>
                <a:srgbClr val="800080"/>
              </a:highlight>
            </a:endParaRP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4DA4689-6816-A57A-BCCA-FB38F0B641B9}"/>
              </a:ext>
            </a:extLst>
          </p:cNvPr>
          <p:cNvGraphicFramePr>
            <a:graphicFrameLocks noGrp="1"/>
          </p:cNvGraphicFramePr>
          <p:nvPr>
            <p:ph idx="1"/>
            <p:extLst>
              <p:ext uri="{D42A27DB-BD31-4B8C-83A1-F6EECF244321}">
                <p14:modId xmlns:p14="http://schemas.microsoft.com/office/powerpoint/2010/main" val="4009521120"/>
              </p:ext>
            </p:extLst>
          </p:nvPr>
        </p:nvGraphicFramePr>
        <p:xfrm>
          <a:off x="5350932" y="0"/>
          <a:ext cx="6688667"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0732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4AA5E-7AF1-9CF0-52AA-66FD00A3E8BF}"/>
              </a:ext>
            </a:extLst>
          </p:cNvPr>
          <p:cNvSpPr>
            <a:spLocks noGrp="1"/>
          </p:cNvSpPr>
          <p:nvPr>
            <p:ph type="title"/>
          </p:nvPr>
        </p:nvSpPr>
        <p:spPr>
          <a:xfrm>
            <a:off x="0" y="1"/>
            <a:ext cx="12192000" cy="1100666"/>
          </a:xfrm>
        </p:spPr>
        <p:txBody>
          <a:bodyPr/>
          <a:lstStyle/>
          <a:p>
            <a:r>
              <a:rPr lang="en-US" b="1" dirty="0">
                <a:solidFill>
                  <a:schemeClr val="bg1"/>
                </a:solidFill>
                <a:highlight>
                  <a:srgbClr val="000080"/>
                </a:highlight>
              </a:rPr>
              <a:t>Interpretation Continued</a:t>
            </a:r>
            <a:endParaRPr lang="en-ZA" b="1" dirty="0">
              <a:solidFill>
                <a:schemeClr val="bg1"/>
              </a:solidFill>
              <a:highlight>
                <a:srgbClr val="000080"/>
              </a:highlight>
            </a:endParaRPr>
          </a:p>
        </p:txBody>
      </p:sp>
      <p:sp>
        <p:nvSpPr>
          <p:cNvPr id="3" name="Content Placeholder 2">
            <a:extLst>
              <a:ext uri="{FF2B5EF4-FFF2-40B4-BE49-F238E27FC236}">
                <a16:creationId xmlns:a16="http://schemas.microsoft.com/office/drawing/2014/main" id="{7F584E1C-4B72-12D5-B140-7F819A41D4B8}"/>
              </a:ext>
            </a:extLst>
          </p:cNvPr>
          <p:cNvSpPr>
            <a:spLocks noGrp="1"/>
          </p:cNvSpPr>
          <p:nvPr>
            <p:ph idx="1"/>
          </p:nvPr>
        </p:nvSpPr>
        <p:spPr>
          <a:xfrm>
            <a:off x="-1" y="914400"/>
            <a:ext cx="12191999" cy="6079067"/>
          </a:xfrm>
        </p:spPr>
        <p:txBody>
          <a:bodyPr>
            <a:normAutofit fontScale="25000" lnSpcReduction="20000"/>
          </a:bodyPr>
          <a:lstStyle/>
          <a:p>
            <a:pPr>
              <a:lnSpc>
                <a:spcPct val="170000"/>
              </a:lnSpc>
            </a:pPr>
            <a:r>
              <a:rPr lang="en-US" sz="14400" b="1" dirty="0">
                <a:solidFill>
                  <a:schemeClr val="bg1"/>
                </a:solidFill>
                <a:highlight>
                  <a:srgbClr val="808000"/>
                </a:highlight>
              </a:rPr>
              <a:t>Overall Pattern: </a:t>
            </a:r>
          </a:p>
          <a:p>
            <a:pPr lvl="1">
              <a:lnSpc>
                <a:spcPct val="170000"/>
              </a:lnSpc>
            </a:pPr>
            <a:r>
              <a:rPr lang="en-US" sz="14400" b="1" dirty="0">
                <a:solidFill>
                  <a:schemeClr val="bg1"/>
                </a:solidFill>
                <a:highlight>
                  <a:srgbClr val="808000"/>
                </a:highlight>
              </a:rPr>
              <a:t>There's a strong positive correlation between Overall rating and Wage (as rating increases, wage increases)</a:t>
            </a:r>
          </a:p>
          <a:p>
            <a:pPr lvl="1">
              <a:lnSpc>
                <a:spcPct val="170000"/>
              </a:lnSpc>
            </a:pPr>
            <a:r>
              <a:rPr lang="en-US" sz="14400" b="1" dirty="0">
                <a:solidFill>
                  <a:schemeClr val="bg1"/>
                </a:solidFill>
                <a:highlight>
                  <a:srgbClr val="808000"/>
                </a:highlight>
              </a:rPr>
              <a:t>The highest-rated offensive players (85-95 rating) command the highest wages</a:t>
            </a:r>
          </a:p>
          <a:p>
            <a:pPr lvl="1">
              <a:lnSpc>
                <a:spcPct val="170000"/>
              </a:lnSpc>
            </a:pPr>
            <a:r>
              <a:rPr lang="en-US" sz="14400" b="1" dirty="0">
                <a:solidFill>
                  <a:schemeClr val="bg1"/>
                </a:solidFill>
                <a:highlight>
                  <a:srgbClr val="808000"/>
                </a:highlight>
              </a:rPr>
              <a:t>Strikers at the top rating levels earn slightly more than wingers</a:t>
            </a:r>
          </a:p>
          <a:p>
            <a:br>
              <a:rPr lang="en-US" sz="11200" dirty="0"/>
            </a:br>
            <a:endParaRPr lang="en-US" sz="11200" dirty="0"/>
          </a:p>
          <a:p>
            <a:endParaRPr lang="en-ZA" dirty="0"/>
          </a:p>
        </p:txBody>
      </p:sp>
    </p:spTree>
    <p:extLst>
      <p:ext uri="{BB962C8B-B14F-4D97-AF65-F5344CB8AC3E}">
        <p14:creationId xmlns:p14="http://schemas.microsoft.com/office/powerpoint/2010/main" val="394430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00BB8-1D98-236F-58BF-0F958F817968}"/>
              </a:ext>
            </a:extLst>
          </p:cNvPr>
          <p:cNvSpPr>
            <a:spLocks noGrp="1"/>
          </p:cNvSpPr>
          <p:nvPr>
            <p:ph type="title"/>
          </p:nvPr>
        </p:nvSpPr>
        <p:spPr>
          <a:xfrm>
            <a:off x="59267" y="1"/>
            <a:ext cx="12056534" cy="1456266"/>
          </a:xfrm>
        </p:spPr>
        <p:txBody>
          <a:bodyPr>
            <a:normAutofit/>
          </a:bodyPr>
          <a:lstStyle/>
          <a:p>
            <a:r>
              <a:rPr lang="en-US" sz="4000" b="1" dirty="0">
                <a:solidFill>
                  <a:schemeClr val="bg1"/>
                </a:solidFill>
                <a:highlight>
                  <a:srgbClr val="FF0000"/>
                </a:highlight>
              </a:rPr>
              <a:t>Top 5 Players for every Preferred Position in Terms of Overall as well as Potential Points</a:t>
            </a:r>
            <a:endParaRPr lang="en-ZA" sz="4000" b="1" dirty="0">
              <a:solidFill>
                <a:schemeClr val="bg1"/>
              </a:solidFill>
              <a:highlight>
                <a:srgbClr val="FF0000"/>
              </a:highlight>
            </a:endParaRPr>
          </a:p>
        </p:txBody>
      </p:sp>
      <p:pic>
        <p:nvPicPr>
          <p:cNvPr id="5" name="Content Placeholder 4">
            <a:extLst>
              <a:ext uri="{FF2B5EF4-FFF2-40B4-BE49-F238E27FC236}">
                <a16:creationId xmlns:a16="http://schemas.microsoft.com/office/drawing/2014/main" id="{EB925D9B-C9DE-7AEF-C7CC-317DC867CF85}"/>
              </a:ext>
            </a:extLst>
          </p:cNvPr>
          <p:cNvPicPr>
            <a:picLocks noGrp="1" noChangeAspect="1"/>
          </p:cNvPicPr>
          <p:nvPr>
            <p:ph idx="1"/>
          </p:nvPr>
        </p:nvPicPr>
        <p:blipFill>
          <a:blip r:embed="rId2"/>
          <a:stretch>
            <a:fillRect/>
          </a:stretch>
        </p:blipFill>
        <p:spPr>
          <a:xfrm>
            <a:off x="1" y="1830651"/>
            <a:ext cx="4038600" cy="2521215"/>
          </a:xfrm>
          <a:prstGeom prst="rect">
            <a:avLst/>
          </a:prstGeom>
        </p:spPr>
      </p:pic>
      <p:pic>
        <p:nvPicPr>
          <p:cNvPr id="7" name="Picture 6">
            <a:extLst>
              <a:ext uri="{FF2B5EF4-FFF2-40B4-BE49-F238E27FC236}">
                <a16:creationId xmlns:a16="http://schemas.microsoft.com/office/drawing/2014/main" id="{E5273661-8C16-3348-074A-3C96552C5E9A}"/>
              </a:ext>
            </a:extLst>
          </p:cNvPr>
          <p:cNvPicPr>
            <a:picLocks noChangeAspect="1"/>
          </p:cNvPicPr>
          <p:nvPr/>
        </p:nvPicPr>
        <p:blipFill>
          <a:blip r:embed="rId3"/>
          <a:stretch>
            <a:fillRect/>
          </a:stretch>
        </p:blipFill>
        <p:spPr>
          <a:xfrm>
            <a:off x="59267" y="4491829"/>
            <a:ext cx="3920067" cy="2387599"/>
          </a:xfrm>
          <a:prstGeom prst="rect">
            <a:avLst/>
          </a:prstGeom>
        </p:spPr>
      </p:pic>
      <p:pic>
        <p:nvPicPr>
          <p:cNvPr id="9" name="Picture 8">
            <a:extLst>
              <a:ext uri="{FF2B5EF4-FFF2-40B4-BE49-F238E27FC236}">
                <a16:creationId xmlns:a16="http://schemas.microsoft.com/office/drawing/2014/main" id="{C946E6E1-20D4-7E15-CA62-E1159AE8E1BC}"/>
              </a:ext>
            </a:extLst>
          </p:cNvPr>
          <p:cNvPicPr>
            <a:picLocks noChangeAspect="1"/>
          </p:cNvPicPr>
          <p:nvPr/>
        </p:nvPicPr>
        <p:blipFill>
          <a:blip r:embed="rId4"/>
          <a:stretch>
            <a:fillRect/>
          </a:stretch>
        </p:blipFill>
        <p:spPr>
          <a:xfrm>
            <a:off x="4038601" y="2104230"/>
            <a:ext cx="4038600" cy="2387599"/>
          </a:xfrm>
          <a:prstGeom prst="rect">
            <a:avLst/>
          </a:prstGeom>
        </p:spPr>
      </p:pic>
      <p:pic>
        <p:nvPicPr>
          <p:cNvPr id="11" name="Picture 10">
            <a:extLst>
              <a:ext uri="{FF2B5EF4-FFF2-40B4-BE49-F238E27FC236}">
                <a16:creationId xmlns:a16="http://schemas.microsoft.com/office/drawing/2014/main" id="{A6EB2B24-1A0C-6B95-A2BD-35ADB6AF2CFD}"/>
              </a:ext>
            </a:extLst>
          </p:cNvPr>
          <p:cNvPicPr>
            <a:picLocks noChangeAspect="1"/>
          </p:cNvPicPr>
          <p:nvPr/>
        </p:nvPicPr>
        <p:blipFill>
          <a:blip r:embed="rId5"/>
          <a:stretch>
            <a:fillRect/>
          </a:stretch>
        </p:blipFill>
        <p:spPr>
          <a:xfrm>
            <a:off x="3971927" y="4491829"/>
            <a:ext cx="4038600" cy="2366171"/>
          </a:xfrm>
          <a:prstGeom prst="rect">
            <a:avLst/>
          </a:prstGeom>
        </p:spPr>
      </p:pic>
      <p:pic>
        <p:nvPicPr>
          <p:cNvPr id="13" name="Picture 12">
            <a:extLst>
              <a:ext uri="{FF2B5EF4-FFF2-40B4-BE49-F238E27FC236}">
                <a16:creationId xmlns:a16="http://schemas.microsoft.com/office/drawing/2014/main" id="{D91F1A49-2C08-5D05-8814-D038F05F80B8}"/>
              </a:ext>
            </a:extLst>
          </p:cNvPr>
          <p:cNvPicPr>
            <a:picLocks noChangeAspect="1"/>
          </p:cNvPicPr>
          <p:nvPr/>
        </p:nvPicPr>
        <p:blipFill>
          <a:blip r:embed="rId6"/>
          <a:stretch>
            <a:fillRect/>
          </a:stretch>
        </p:blipFill>
        <p:spPr>
          <a:xfrm>
            <a:off x="8143875" y="2104230"/>
            <a:ext cx="3971926" cy="2247636"/>
          </a:xfrm>
          <a:prstGeom prst="rect">
            <a:avLst/>
          </a:prstGeom>
        </p:spPr>
      </p:pic>
      <p:pic>
        <p:nvPicPr>
          <p:cNvPr id="15" name="Picture 14">
            <a:extLst>
              <a:ext uri="{FF2B5EF4-FFF2-40B4-BE49-F238E27FC236}">
                <a16:creationId xmlns:a16="http://schemas.microsoft.com/office/drawing/2014/main" id="{045C3591-750E-55DD-46ED-3961D9452165}"/>
              </a:ext>
            </a:extLst>
          </p:cNvPr>
          <p:cNvPicPr>
            <a:picLocks noChangeAspect="1"/>
          </p:cNvPicPr>
          <p:nvPr/>
        </p:nvPicPr>
        <p:blipFill>
          <a:blip r:embed="rId7"/>
          <a:stretch>
            <a:fillRect/>
          </a:stretch>
        </p:blipFill>
        <p:spPr>
          <a:xfrm>
            <a:off x="8143875" y="4351867"/>
            <a:ext cx="4048125" cy="2506134"/>
          </a:xfrm>
          <a:prstGeom prst="rect">
            <a:avLst/>
          </a:prstGeom>
        </p:spPr>
      </p:pic>
    </p:spTree>
    <p:extLst>
      <p:ext uri="{BB962C8B-B14F-4D97-AF65-F5344CB8AC3E}">
        <p14:creationId xmlns:p14="http://schemas.microsoft.com/office/powerpoint/2010/main" val="1173214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BE09-FE6F-6D26-C529-6136710ED81F}"/>
              </a:ext>
            </a:extLst>
          </p:cNvPr>
          <p:cNvSpPr>
            <a:spLocks noGrp="1"/>
          </p:cNvSpPr>
          <p:nvPr>
            <p:ph type="title"/>
          </p:nvPr>
        </p:nvSpPr>
        <p:spPr>
          <a:xfrm>
            <a:off x="135467" y="0"/>
            <a:ext cx="12056533" cy="592667"/>
          </a:xfrm>
        </p:spPr>
        <p:txBody>
          <a:bodyPr>
            <a:normAutofit fontScale="90000"/>
          </a:bodyPr>
          <a:lstStyle/>
          <a:p>
            <a:r>
              <a:rPr lang="en-US" b="1" dirty="0">
                <a:solidFill>
                  <a:schemeClr val="bg1"/>
                </a:solidFill>
                <a:highlight>
                  <a:srgbClr val="0000FF"/>
                </a:highlight>
              </a:rPr>
              <a:t>Continued</a:t>
            </a:r>
            <a:endParaRPr lang="en-ZA" b="1" dirty="0">
              <a:solidFill>
                <a:schemeClr val="bg1"/>
              </a:solidFill>
              <a:highlight>
                <a:srgbClr val="0000FF"/>
              </a:highlight>
            </a:endParaRPr>
          </a:p>
        </p:txBody>
      </p:sp>
      <p:pic>
        <p:nvPicPr>
          <p:cNvPr id="5" name="Content Placeholder 4">
            <a:extLst>
              <a:ext uri="{FF2B5EF4-FFF2-40B4-BE49-F238E27FC236}">
                <a16:creationId xmlns:a16="http://schemas.microsoft.com/office/drawing/2014/main" id="{564E9CD5-00FB-6F1D-46A1-B87EA81B0D90}"/>
              </a:ext>
            </a:extLst>
          </p:cNvPr>
          <p:cNvPicPr>
            <a:picLocks noGrp="1" noChangeAspect="1"/>
          </p:cNvPicPr>
          <p:nvPr>
            <p:ph idx="1"/>
          </p:nvPr>
        </p:nvPicPr>
        <p:blipFill>
          <a:blip r:embed="rId2"/>
          <a:stretch>
            <a:fillRect/>
          </a:stretch>
        </p:blipFill>
        <p:spPr>
          <a:xfrm>
            <a:off x="0" y="592667"/>
            <a:ext cx="4064000" cy="1903678"/>
          </a:xfrm>
          <a:prstGeom prst="rect">
            <a:avLst/>
          </a:prstGeom>
        </p:spPr>
      </p:pic>
      <p:pic>
        <p:nvPicPr>
          <p:cNvPr id="7" name="Picture 6">
            <a:extLst>
              <a:ext uri="{FF2B5EF4-FFF2-40B4-BE49-F238E27FC236}">
                <a16:creationId xmlns:a16="http://schemas.microsoft.com/office/drawing/2014/main" id="{AD8832D6-39A3-3238-7D45-EFB7F7F42FA8}"/>
              </a:ext>
            </a:extLst>
          </p:cNvPr>
          <p:cNvPicPr>
            <a:picLocks noChangeAspect="1"/>
          </p:cNvPicPr>
          <p:nvPr/>
        </p:nvPicPr>
        <p:blipFill>
          <a:blip r:embed="rId3"/>
          <a:stretch>
            <a:fillRect/>
          </a:stretch>
        </p:blipFill>
        <p:spPr>
          <a:xfrm>
            <a:off x="0" y="2496345"/>
            <a:ext cx="4048125" cy="1903678"/>
          </a:xfrm>
          <a:prstGeom prst="rect">
            <a:avLst/>
          </a:prstGeom>
        </p:spPr>
      </p:pic>
      <p:pic>
        <p:nvPicPr>
          <p:cNvPr id="9" name="Picture 8">
            <a:extLst>
              <a:ext uri="{FF2B5EF4-FFF2-40B4-BE49-F238E27FC236}">
                <a16:creationId xmlns:a16="http://schemas.microsoft.com/office/drawing/2014/main" id="{BAD2369A-11A4-7530-CA59-EE3975B4F8E5}"/>
              </a:ext>
            </a:extLst>
          </p:cNvPr>
          <p:cNvPicPr>
            <a:picLocks noChangeAspect="1"/>
          </p:cNvPicPr>
          <p:nvPr/>
        </p:nvPicPr>
        <p:blipFill>
          <a:blip r:embed="rId4"/>
          <a:stretch>
            <a:fillRect/>
          </a:stretch>
        </p:blipFill>
        <p:spPr>
          <a:xfrm>
            <a:off x="0" y="4400023"/>
            <a:ext cx="4000500" cy="2143389"/>
          </a:xfrm>
          <a:prstGeom prst="rect">
            <a:avLst/>
          </a:prstGeom>
        </p:spPr>
      </p:pic>
      <p:pic>
        <p:nvPicPr>
          <p:cNvPr id="11" name="Picture 10">
            <a:extLst>
              <a:ext uri="{FF2B5EF4-FFF2-40B4-BE49-F238E27FC236}">
                <a16:creationId xmlns:a16="http://schemas.microsoft.com/office/drawing/2014/main" id="{7F127C99-F38D-27E4-D833-56C56487A781}"/>
              </a:ext>
            </a:extLst>
          </p:cNvPr>
          <p:cNvPicPr>
            <a:picLocks noChangeAspect="1"/>
          </p:cNvPicPr>
          <p:nvPr/>
        </p:nvPicPr>
        <p:blipFill>
          <a:blip r:embed="rId5"/>
          <a:stretch>
            <a:fillRect/>
          </a:stretch>
        </p:blipFill>
        <p:spPr>
          <a:xfrm>
            <a:off x="4064000" y="2579689"/>
            <a:ext cx="4000500" cy="2143389"/>
          </a:xfrm>
          <a:prstGeom prst="rect">
            <a:avLst/>
          </a:prstGeom>
        </p:spPr>
      </p:pic>
      <p:pic>
        <p:nvPicPr>
          <p:cNvPr id="13" name="Picture 12">
            <a:extLst>
              <a:ext uri="{FF2B5EF4-FFF2-40B4-BE49-F238E27FC236}">
                <a16:creationId xmlns:a16="http://schemas.microsoft.com/office/drawing/2014/main" id="{4ABE2003-1AE8-ABB3-6865-316994D7CD52}"/>
              </a:ext>
            </a:extLst>
          </p:cNvPr>
          <p:cNvPicPr>
            <a:picLocks noChangeAspect="1"/>
          </p:cNvPicPr>
          <p:nvPr/>
        </p:nvPicPr>
        <p:blipFill>
          <a:blip r:embed="rId6"/>
          <a:stretch>
            <a:fillRect/>
          </a:stretch>
        </p:blipFill>
        <p:spPr>
          <a:xfrm>
            <a:off x="4048125" y="654978"/>
            <a:ext cx="4067175" cy="1903678"/>
          </a:xfrm>
          <a:prstGeom prst="rect">
            <a:avLst/>
          </a:prstGeom>
        </p:spPr>
      </p:pic>
      <p:pic>
        <p:nvPicPr>
          <p:cNvPr id="15" name="Picture 14">
            <a:extLst>
              <a:ext uri="{FF2B5EF4-FFF2-40B4-BE49-F238E27FC236}">
                <a16:creationId xmlns:a16="http://schemas.microsoft.com/office/drawing/2014/main" id="{6F559B12-4B88-5047-4143-43DE54BFF032}"/>
              </a:ext>
            </a:extLst>
          </p:cNvPr>
          <p:cNvPicPr>
            <a:picLocks noChangeAspect="1"/>
          </p:cNvPicPr>
          <p:nvPr/>
        </p:nvPicPr>
        <p:blipFill>
          <a:blip r:embed="rId7"/>
          <a:stretch>
            <a:fillRect/>
          </a:stretch>
        </p:blipFill>
        <p:spPr>
          <a:xfrm>
            <a:off x="4000500" y="4838304"/>
            <a:ext cx="4000500" cy="1705108"/>
          </a:xfrm>
          <a:prstGeom prst="rect">
            <a:avLst/>
          </a:prstGeom>
        </p:spPr>
      </p:pic>
      <p:pic>
        <p:nvPicPr>
          <p:cNvPr id="17" name="Picture 16">
            <a:extLst>
              <a:ext uri="{FF2B5EF4-FFF2-40B4-BE49-F238E27FC236}">
                <a16:creationId xmlns:a16="http://schemas.microsoft.com/office/drawing/2014/main" id="{02B33FE5-3D38-670B-928D-778AAF019E75}"/>
              </a:ext>
            </a:extLst>
          </p:cNvPr>
          <p:cNvPicPr>
            <a:picLocks noChangeAspect="1"/>
          </p:cNvPicPr>
          <p:nvPr/>
        </p:nvPicPr>
        <p:blipFill>
          <a:blip r:embed="rId8"/>
          <a:stretch>
            <a:fillRect/>
          </a:stretch>
        </p:blipFill>
        <p:spPr>
          <a:xfrm>
            <a:off x="8178800" y="665495"/>
            <a:ext cx="3984625" cy="1914194"/>
          </a:xfrm>
          <a:prstGeom prst="rect">
            <a:avLst/>
          </a:prstGeom>
        </p:spPr>
      </p:pic>
      <p:pic>
        <p:nvPicPr>
          <p:cNvPr id="19" name="Picture 18">
            <a:extLst>
              <a:ext uri="{FF2B5EF4-FFF2-40B4-BE49-F238E27FC236}">
                <a16:creationId xmlns:a16="http://schemas.microsoft.com/office/drawing/2014/main" id="{ADEDF6E1-819C-70D0-D99F-4A18689AE7F7}"/>
              </a:ext>
            </a:extLst>
          </p:cNvPr>
          <p:cNvPicPr>
            <a:picLocks noChangeAspect="1"/>
          </p:cNvPicPr>
          <p:nvPr/>
        </p:nvPicPr>
        <p:blipFill>
          <a:blip r:embed="rId9"/>
          <a:stretch>
            <a:fillRect/>
          </a:stretch>
        </p:blipFill>
        <p:spPr>
          <a:xfrm>
            <a:off x="8001000" y="2600722"/>
            <a:ext cx="4095750" cy="2237582"/>
          </a:xfrm>
          <a:prstGeom prst="rect">
            <a:avLst/>
          </a:prstGeom>
        </p:spPr>
      </p:pic>
      <p:pic>
        <p:nvPicPr>
          <p:cNvPr id="21" name="Picture 20">
            <a:extLst>
              <a:ext uri="{FF2B5EF4-FFF2-40B4-BE49-F238E27FC236}">
                <a16:creationId xmlns:a16="http://schemas.microsoft.com/office/drawing/2014/main" id="{21BEDEE8-269B-437D-805C-56F6AD14EB74}"/>
              </a:ext>
            </a:extLst>
          </p:cNvPr>
          <p:cNvPicPr>
            <a:picLocks noChangeAspect="1"/>
          </p:cNvPicPr>
          <p:nvPr/>
        </p:nvPicPr>
        <p:blipFill>
          <a:blip r:embed="rId10"/>
          <a:stretch>
            <a:fillRect/>
          </a:stretch>
        </p:blipFill>
        <p:spPr>
          <a:xfrm>
            <a:off x="8064500" y="4880370"/>
            <a:ext cx="4127500" cy="1663042"/>
          </a:xfrm>
          <a:prstGeom prst="rect">
            <a:avLst/>
          </a:prstGeom>
        </p:spPr>
      </p:pic>
    </p:spTree>
    <p:extLst>
      <p:ext uri="{BB962C8B-B14F-4D97-AF65-F5344CB8AC3E}">
        <p14:creationId xmlns:p14="http://schemas.microsoft.com/office/powerpoint/2010/main" val="338659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F8C1-455C-B981-36E5-020A1F0E9411}"/>
              </a:ext>
            </a:extLst>
          </p:cNvPr>
          <p:cNvSpPr>
            <a:spLocks noGrp="1"/>
          </p:cNvSpPr>
          <p:nvPr>
            <p:ph type="title"/>
          </p:nvPr>
        </p:nvSpPr>
        <p:spPr>
          <a:xfrm>
            <a:off x="0" y="0"/>
            <a:ext cx="12096750" cy="2200672"/>
          </a:xfrm>
        </p:spPr>
        <p:txBody>
          <a:bodyPr/>
          <a:lstStyle/>
          <a:p>
            <a:r>
              <a:rPr lang="en-US" b="1" dirty="0">
                <a:solidFill>
                  <a:schemeClr val="bg1"/>
                </a:solidFill>
                <a:highlight>
                  <a:srgbClr val="0000FF"/>
                </a:highlight>
              </a:rPr>
              <a:t>Continued</a:t>
            </a:r>
            <a:endParaRPr lang="en-ZA" b="1" dirty="0">
              <a:solidFill>
                <a:schemeClr val="bg1"/>
              </a:solidFill>
              <a:highlight>
                <a:srgbClr val="0000FF"/>
              </a:highlight>
            </a:endParaRPr>
          </a:p>
        </p:txBody>
      </p:sp>
      <p:pic>
        <p:nvPicPr>
          <p:cNvPr id="5" name="Content Placeholder 4">
            <a:extLst>
              <a:ext uri="{FF2B5EF4-FFF2-40B4-BE49-F238E27FC236}">
                <a16:creationId xmlns:a16="http://schemas.microsoft.com/office/drawing/2014/main" id="{093F6C96-6869-E80D-6C10-B46E529E9D1D}"/>
              </a:ext>
            </a:extLst>
          </p:cNvPr>
          <p:cNvPicPr>
            <a:picLocks noGrp="1" noChangeAspect="1"/>
          </p:cNvPicPr>
          <p:nvPr>
            <p:ph idx="1"/>
          </p:nvPr>
        </p:nvPicPr>
        <p:blipFill>
          <a:blip r:embed="rId2"/>
          <a:stretch>
            <a:fillRect/>
          </a:stretch>
        </p:blipFill>
        <p:spPr>
          <a:xfrm>
            <a:off x="0" y="2200672"/>
            <a:ext cx="4038600" cy="2456656"/>
          </a:xfrm>
          <a:prstGeom prst="rect">
            <a:avLst/>
          </a:prstGeom>
        </p:spPr>
      </p:pic>
      <p:pic>
        <p:nvPicPr>
          <p:cNvPr id="7" name="Picture 6">
            <a:extLst>
              <a:ext uri="{FF2B5EF4-FFF2-40B4-BE49-F238E27FC236}">
                <a16:creationId xmlns:a16="http://schemas.microsoft.com/office/drawing/2014/main" id="{BFCC392F-D46D-14AE-B25D-F7F31A12DBFA}"/>
              </a:ext>
            </a:extLst>
          </p:cNvPr>
          <p:cNvPicPr>
            <a:picLocks noChangeAspect="1"/>
          </p:cNvPicPr>
          <p:nvPr/>
        </p:nvPicPr>
        <p:blipFill>
          <a:blip r:embed="rId3"/>
          <a:stretch>
            <a:fillRect/>
          </a:stretch>
        </p:blipFill>
        <p:spPr>
          <a:xfrm>
            <a:off x="4038600" y="2200672"/>
            <a:ext cx="4019550" cy="2456656"/>
          </a:xfrm>
          <a:prstGeom prst="rect">
            <a:avLst/>
          </a:prstGeom>
        </p:spPr>
      </p:pic>
      <p:pic>
        <p:nvPicPr>
          <p:cNvPr id="9" name="Picture 8">
            <a:extLst>
              <a:ext uri="{FF2B5EF4-FFF2-40B4-BE49-F238E27FC236}">
                <a16:creationId xmlns:a16="http://schemas.microsoft.com/office/drawing/2014/main" id="{1B37B97B-8FCA-5BC9-AA9B-A806C82CA5F2}"/>
              </a:ext>
            </a:extLst>
          </p:cNvPr>
          <p:cNvPicPr>
            <a:picLocks noChangeAspect="1"/>
          </p:cNvPicPr>
          <p:nvPr/>
        </p:nvPicPr>
        <p:blipFill>
          <a:blip r:embed="rId4"/>
          <a:stretch>
            <a:fillRect/>
          </a:stretch>
        </p:blipFill>
        <p:spPr>
          <a:xfrm>
            <a:off x="8248650" y="2200672"/>
            <a:ext cx="3848100" cy="2456656"/>
          </a:xfrm>
          <a:prstGeom prst="rect">
            <a:avLst/>
          </a:prstGeom>
        </p:spPr>
      </p:pic>
    </p:spTree>
    <p:extLst>
      <p:ext uri="{BB962C8B-B14F-4D97-AF65-F5344CB8AC3E}">
        <p14:creationId xmlns:p14="http://schemas.microsoft.com/office/powerpoint/2010/main" val="66917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BA400-3430-9254-C4A5-353586D0ED2D}"/>
              </a:ext>
            </a:extLst>
          </p:cNvPr>
          <p:cNvSpPr>
            <a:spLocks noGrp="1"/>
          </p:cNvSpPr>
          <p:nvPr>
            <p:ph type="title"/>
          </p:nvPr>
        </p:nvSpPr>
        <p:spPr>
          <a:xfrm>
            <a:off x="0" y="1"/>
            <a:ext cx="11353800" cy="609599"/>
          </a:xfrm>
        </p:spPr>
        <p:txBody>
          <a:bodyPr>
            <a:normAutofit fontScale="90000"/>
          </a:bodyPr>
          <a:lstStyle/>
          <a:p>
            <a:r>
              <a:rPr lang="en-US" b="1" dirty="0">
                <a:solidFill>
                  <a:schemeClr val="bg1"/>
                </a:solidFill>
                <a:highlight>
                  <a:srgbClr val="800080"/>
                </a:highlight>
              </a:rPr>
              <a:t>Analysis</a:t>
            </a:r>
            <a:endParaRPr lang="en-ZA" b="1" dirty="0">
              <a:solidFill>
                <a:schemeClr val="bg1"/>
              </a:solidFill>
              <a:highlight>
                <a:srgbClr val="800080"/>
              </a:highlight>
            </a:endParaRPr>
          </a:p>
        </p:txBody>
      </p:sp>
      <p:sp>
        <p:nvSpPr>
          <p:cNvPr id="3" name="Content Placeholder 2">
            <a:extLst>
              <a:ext uri="{FF2B5EF4-FFF2-40B4-BE49-F238E27FC236}">
                <a16:creationId xmlns:a16="http://schemas.microsoft.com/office/drawing/2014/main" id="{9C5869A9-0E27-A233-7B33-546293506B65}"/>
              </a:ext>
            </a:extLst>
          </p:cNvPr>
          <p:cNvSpPr>
            <a:spLocks noGrp="1"/>
          </p:cNvSpPr>
          <p:nvPr>
            <p:ph idx="1"/>
          </p:nvPr>
        </p:nvSpPr>
        <p:spPr>
          <a:xfrm>
            <a:off x="0" y="609600"/>
            <a:ext cx="12192000" cy="6248399"/>
          </a:xfrm>
        </p:spPr>
        <p:txBody>
          <a:bodyPr>
            <a:noAutofit/>
          </a:bodyPr>
          <a:lstStyle/>
          <a:p>
            <a:pPr>
              <a:lnSpc>
                <a:spcPct val="150000"/>
              </a:lnSpc>
            </a:pPr>
            <a:r>
              <a:rPr lang="en-US" sz="3200" b="1" dirty="0">
                <a:solidFill>
                  <a:schemeClr val="bg1"/>
                </a:solidFill>
                <a:highlight>
                  <a:srgbClr val="FF0000"/>
                </a:highlight>
              </a:rPr>
              <a:t>Executive Summary: Analysis of 17,981 players from FIFA 2018, covering a wide range of positions and skill levels, reveals distinct positional profiles and talent distribution patterns.</a:t>
            </a:r>
          </a:p>
          <a:p>
            <a:pPr>
              <a:lnSpc>
                <a:spcPct val="150000"/>
              </a:lnSpc>
            </a:pPr>
            <a:r>
              <a:rPr lang="en-US" sz="3200" b="1" dirty="0">
                <a:solidFill>
                  <a:schemeClr val="bg1"/>
                </a:solidFill>
                <a:highlight>
                  <a:srgbClr val="FF0000"/>
                </a:highlight>
              </a:rPr>
              <a:t>The current ratings are dominated by the legendary Cristiano Ronaldo (94) and Messi (93), their prowess on the field is a thrill to witness. Meanwhile, the emergence of potential superstars like Mbappé and Donnarumma (both 18, potential 94) adds a new dimension to the game. </a:t>
            </a:r>
          </a:p>
          <a:p>
            <a:pPr>
              <a:lnSpc>
                <a:spcPct val="150000"/>
              </a:lnSpc>
            </a:pPr>
            <a:endParaRPr lang="en-ZA" sz="3200" b="1" dirty="0">
              <a:solidFill>
                <a:schemeClr val="bg1"/>
              </a:solidFill>
            </a:endParaRPr>
          </a:p>
        </p:txBody>
      </p:sp>
    </p:spTree>
    <p:extLst>
      <p:ext uri="{BB962C8B-B14F-4D97-AF65-F5344CB8AC3E}">
        <p14:creationId xmlns:p14="http://schemas.microsoft.com/office/powerpoint/2010/main" val="425949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D2B22-C2D2-7513-5F66-D69B5EC5C1E1}"/>
              </a:ext>
            </a:extLst>
          </p:cNvPr>
          <p:cNvSpPr>
            <a:spLocks noGrp="1"/>
          </p:cNvSpPr>
          <p:nvPr>
            <p:ph type="title"/>
          </p:nvPr>
        </p:nvSpPr>
        <p:spPr>
          <a:xfrm>
            <a:off x="0" y="1"/>
            <a:ext cx="12192000" cy="1032932"/>
          </a:xfrm>
        </p:spPr>
        <p:txBody>
          <a:bodyPr/>
          <a:lstStyle/>
          <a:p>
            <a:r>
              <a:rPr lang="en-US" dirty="0">
                <a:highlight>
                  <a:srgbClr val="00FF00"/>
                </a:highlight>
              </a:rPr>
              <a:t>Continued</a:t>
            </a:r>
            <a:endParaRPr lang="en-ZA" dirty="0">
              <a:highlight>
                <a:srgbClr val="00FF00"/>
              </a:highlight>
            </a:endParaRPr>
          </a:p>
        </p:txBody>
      </p:sp>
      <p:sp>
        <p:nvSpPr>
          <p:cNvPr id="3" name="Content Placeholder 2">
            <a:extLst>
              <a:ext uri="{FF2B5EF4-FFF2-40B4-BE49-F238E27FC236}">
                <a16:creationId xmlns:a16="http://schemas.microsoft.com/office/drawing/2014/main" id="{4D03EA2C-BB80-1F80-1CDC-7CFC518C9CB5}"/>
              </a:ext>
            </a:extLst>
          </p:cNvPr>
          <p:cNvSpPr>
            <a:spLocks noGrp="1"/>
          </p:cNvSpPr>
          <p:nvPr>
            <p:ph idx="1"/>
          </p:nvPr>
        </p:nvSpPr>
        <p:spPr>
          <a:xfrm>
            <a:off x="0" y="1032933"/>
            <a:ext cx="12192000" cy="5825066"/>
          </a:xfrm>
        </p:spPr>
        <p:txBody>
          <a:bodyPr>
            <a:normAutofit fontScale="92500" lnSpcReduction="20000"/>
          </a:bodyPr>
          <a:lstStyle/>
          <a:p>
            <a:pPr>
              <a:lnSpc>
                <a:spcPct val="150000"/>
              </a:lnSpc>
            </a:pPr>
            <a:r>
              <a:rPr lang="en-US" sz="3200" b="1" dirty="0">
                <a:solidFill>
                  <a:schemeClr val="bg1"/>
                </a:solidFill>
                <a:highlight>
                  <a:srgbClr val="800000"/>
                </a:highlight>
              </a:rPr>
              <a:t>Strikers require high acceleration (75+) and ball control (80+), while defenders prioritize aggression (79 avg).</a:t>
            </a:r>
          </a:p>
          <a:p>
            <a:pPr>
              <a:lnSpc>
                <a:spcPct val="150000"/>
              </a:lnSpc>
            </a:pPr>
            <a:r>
              <a:rPr lang="en-US" sz="3200" b="1" dirty="0">
                <a:solidFill>
                  <a:schemeClr val="bg1"/>
                </a:solidFill>
                <a:highlight>
                  <a:srgbClr val="800000"/>
                </a:highlight>
              </a:rPr>
              <a:t>Barcelona leads with 9 future stars, followed by Atlético Madrid (8). </a:t>
            </a:r>
          </a:p>
          <a:p>
            <a:pPr>
              <a:lnSpc>
                <a:spcPct val="150000"/>
              </a:lnSpc>
            </a:pPr>
            <a:r>
              <a:rPr lang="en-US" sz="3200" b="1" dirty="0">
                <a:solidFill>
                  <a:schemeClr val="bg1"/>
                </a:solidFill>
                <a:highlight>
                  <a:srgbClr val="800000"/>
                </a:highlight>
              </a:rPr>
              <a:t>Real Madrid pays the highest wages (€250K median) while Liverpool's team-oriented structure (€125K) is commendable. However, it's the lower-tier English clubs that employ more domestic players (96%) than elite international clubs (50%) that are proving the importance of position-specific recruitment and youth development for sustainable success</a:t>
            </a:r>
            <a:r>
              <a:rPr lang="en-US" sz="3200" b="1" dirty="0">
                <a:solidFill>
                  <a:schemeClr val="bg1"/>
                </a:solidFill>
              </a:rPr>
              <a:t>.</a:t>
            </a:r>
          </a:p>
          <a:p>
            <a:pPr>
              <a:lnSpc>
                <a:spcPct val="150000"/>
              </a:lnSpc>
            </a:pPr>
            <a:endParaRPr lang="en-US" sz="3200" b="1" dirty="0">
              <a:solidFill>
                <a:schemeClr val="bg1"/>
              </a:solidFill>
            </a:endParaRPr>
          </a:p>
          <a:p>
            <a:endParaRPr lang="en-ZA" b="1" dirty="0">
              <a:solidFill>
                <a:schemeClr val="bg1"/>
              </a:solidFill>
            </a:endParaRPr>
          </a:p>
        </p:txBody>
      </p:sp>
    </p:spTree>
    <p:extLst>
      <p:ext uri="{BB962C8B-B14F-4D97-AF65-F5344CB8AC3E}">
        <p14:creationId xmlns:p14="http://schemas.microsoft.com/office/powerpoint/2010/main" val="1842278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4B83-D92C-CC4E-A992-D76FE66B1ABB}"/>
              </a:ext>
            </a:extLst>
          </p:cNvPr>
          <p:cNvSpPr>
            <a:spLocks noGrp="1"/>
          </p:cNvSpPr>
          <p:nvPr>
            <p:ph type="title"/>
          </p:nvPr>
        </p:nvSpPr>
        <p:spPr>
          <a:xfrm>
            <a:off x="-126999" y="0"/>
            <a:ext cx="12319000" cy="897467"/>
          </a:xfrm>
        </p:spPr>
        <p:txBody>
          <a:bodyPr>
            <a:normAutofit fontScale="90000"/>
          </a:bodyPr>
          <a:lstStyle/>
          <a:p>
            <a:pPr>
              <a:lnSpc>
                <a:spcPct val="150000"/>
              </a:lnSpc>
            </a:pPr>
            <a:r>
              <a:rPr lang="en-ZA" sz="4000" b="1" dirty="0">
                <a:solidFill>
                  <a:schemeClr val="bg1"/>
                </a:solidFill>
                <a:highlight>
                  <a:srgbClr val="008080"/>
                </a:highlight>
              </a:rPr>
              <a:t>Club With the maximum Share of Players from England</a:t>
            </a:r>
          </a:p>
        </p:txBody>
      </p:sp>
      <p:pic>
        <p:nvPicPr>
          <p:cNvPr id="5" name="Content Placeholder 4">
            <a:extLst>
              <a:ext uri="{FF2B5EF4-FFF2-40B4-BE49-F238E27FC236}">
                <a16:creationId xmlns:a16="http://schemas.microsoft.com/office/drawing/2014/main" id="{BA7C961B-8EBF-E55C-D3AD-DAF94A5D9999}"/>
              </a:ext>
            </a:extLst>
          </p:cNvPr>
          <p:cNvPicPr>
            <a:picLocks noGrp="1" noChangeAspect="1"/>
          </p:cNvPicPr>
          <p:nvPr>
            <p:ph idx="1"/>
          </p:nvPr>
        </p:nvPicPr>
        <p:blipFill>
          <a:blip r:embed="rId2"/>
          <a:stretch>
            <a:fillRect/>
          </a:stretch>
        </p:blipFill>
        <p:spPr>
          <a:xfrm>
            <a:off x="0" y="897467"/>
            <a:ext cx="12192000" cy="5960533"/>
          </a:xfrm>
          <a:prstGeom prst="rect">
            <a:avLst/>
          </a:prstGeom>
        </p:spPr>
      </p:pic>
    </p:spTree>
    <p:extLst>
      <p:ext uri="{BB962C8B-B14F-4D97-AF65-F5344CB8AC3E}">
        <p14:creationId xmlns:p14="http://schemas.microsoft.com/office/powerpoint/2010/main" val="3463531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685F-8C57-D899-967C-2E629FE3227F}"/>
              </a:ext>
            </a:extLst>
          </p:cNvPr>
          <p:cNvSpPr>
            <a:spLocks noGrp="1"/>
          </p:cNvSpPr>
          <p:nvPr>
            <p:ph type="title"/>
          </p:nvPr>
        </p:nvSpPr>
        <p:spPr>
          <a:xfrm>
            <a:off x="0" y="1"/>
            <a:ext cx="12191999" cy="1690688"/>
          </a:xfrm>
        </p:spPr>
        <p:txBody>
          <a:bodyPr>
            <a:normAutofit fontScale="90000"/>
          </a:bodyPr>
          <a:lstStyle/>
          <a:p>
            <a:pPr>
              <a:lnSpc>
                <a:spcPct val="150000"/>
              </a:lnSpc>
            </a:pPr>
            <a:r>
              <a:rPr lang="en-ZA" b="1" dirty="0">
                <a:solidFill>
                  <a:schemeClr val="bg1"/>
                </a:solidFill>
                <a:highlight>
                  <a:srgbClr val="800000"/>
                </a:highlight>
              </a:rPr>
              <a:t>Club(s) With the maximum Share of Players from Spain and Germany</a:t>
            </a:r>
          </a:p>
        </p:txBody>
      </p:sp>
      <p:pic>
        <p:nvPicPr>
          <p:cNvPr id="5" name="Content Placeholder 4">
            <a:extLst>
              <a:ext uri="{FF2B5EF4-FFF2-40B4-BE49-F238E27FC236}">
                <a16:creationId xmlns:a16="http://schemas.microsoft.com/office/drawing/2014/main" id="{BB822ADF-58B4-C093-7315-590FD5EE8EA7}"/>
              </a:ext>
            </a:extLst>
          </p:cNvPr>
          <p:cNvPicPr>
            <a:picLocks noGrp="1" noChangeAspect="1"/>
          </p:cNvPicPr>
          <p:nvPr>
            <p:ph idx="1"/>
          </p:nvPr>
        </p:nvPicPr>
        <p:blipFill>
          <a:blip r:embed="rId2"/>
          <a:stretch>
            <a:fillRect/>
          </a:stretch>
        </p:blipFill>
        <p:spPr>
          <a:xfrm>
            <a:off x="2" y="1690689"/>
            <a:ext cx="12191998" cy="5827711"/>
          </a:xfrm>
          <a:prstGeom prst="rect">
            <a:avLst/>
          </a:prstGeom>
        </p:spPr>
      </p:pic>
    </p:spTree>
    <p:extLst>
      <p:ext uri="{BB962C8B-B14F-4D97-AF65-F5344CB8AC3E}">
        <p14:creationId xmlns:p14="http://schemas.microsoft.com/office/powerpoint/2010/main" val="3305644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C722E-B501-6BCD-E94C-7BBB441D488A}"/>
              </a:ext>
            </a:extLst>
          </p:cNvPr>
          <p:cNvSpPr>
            <a:spLocks noGrp="1"/>
          </p:cNvSpPr>
          <p:nvPr>
            <p:ph type="title"/>
          </p:nvPr>
        </p:nvSpPr>
        <p:spPr>
          <a:xfrm>
            <a:off x="0" y="2"/>
            <a:ext cx="12191999" cy="948266"/>
          </a:xfrm>
        </p:spPr>
        <p:txBody>
          <a:bodyPr>
            <a:normAutofit fontScale="90000"/>
          </a:bodyPr>
          <a:lstStyle/>
          <a:p>
            <a:r>
              <a:rPr lang="en-US" b="1" dirty="0">
                <a:solidFill>
                  <a:schemeClr val="bg1"/>
                </a:solidFill>
                <a:highlight>
                  <a:srgbClr val="FF0000"/>
                </a:highlight>
              </a:rPr>
              <a:t>Analysis of Total and Average Players for Germany and Spain</a:t>
            </a:r>
            <a:endParaRPr lang="en-ZA" b="1" dirty="0">
              <a:solidFill>
                <a:schemeClr val="bg1"/>
              </a:solidFill>
              <a:highlight>
                <a:srgbClr val="FF0000"/>
              </a:highlight>
            </a:endParaRPr>
          </a:p>
        </p:txBody>
      </p:sp>
      <p:pic>
        <p:nvPicPr>
          <p:cNvPr id="5" name="Content Placeholder 4">
            <a:extLst>
              <a:ext uri="{FF2B5EF4-FFF2-40B4-BE49-F238E27FC236}">
                <a16:creationId xmlns:a16="http://schemas.microsoft.com/office/drawing/2014/main" id="{4C3B2AD1-1FC4-AE1F-601B-422F8A7B9A2C}"/>
              </a:ext>
            </a:extLst>
          </p:cNvPr>
          <p:cNvPicPr>
            <a:picLocks noGrp="1" noChangeAspect="1"/>
          </p:cNvPicPr>
          <p:nvPr>
            <p:ph idx="1"/>
          </p:nvPr>
        </p:nvPicPr>
        <p:blipFill>
          <a:blip r:embed="rId2"/>
          <a:stretch>
            <a:fillRect/>
          </a:stretch>
        </p:blipFill>
        <p:spPr>
          <a:xfrm>
            <a:off x="0" y="1185333"/>
            <a:ext cx="12191999" cy="5672667"/>
          </a:xfrm>
          <a:prstGeom prst="rect">
            <a:avLst/>
          </a:prstGeom>
        </p:spPr>
      </p:pic>
    </p:spTree>
    <p:extLst>
      <p:ext uri="{BB962C8B-B14F-4D97-AF65-F5344CB8AC3E}">
        <p14:creationId xmlns:p14="http://schemas.microsoft.com/office/powerpoint/2010/main" val="1718251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A6F7-6BDC-4109-8F63-A04913A07FEF}"/>
              </a:ext>
            </a:extLst>
          </p:cNvPr>
          <p:cNvSpPr>
            <a:spLocks noGrp="1"/>
          </p:cNvSpPr>
          <p:nvPr>
            <p:ph type="title"/>
          </p:nvPr>
        </p:nvSpPr>
        <p:spPr>
          <a:xfrm>
            <a:off x="0" y="0"/>
            <a:ext cx="11353800" cy="1134534"/>
          </a:xfrm>
        </p:spPr>
        <p:txBody>
          <a:bodyPr>
            <a:normAutofit fontScale="90000"/>
          </a:bodyPr>
          <a:lstStyle/>
          <a:p>
            <a:r>
              <a:rPr lang="en-US" b="1" dirty="0">
                <a:solidFill>
                  <a:schemeClr val="bg1"/>
                </a:solidFill>
                <a:highlight>
                  <a:srgbClr val="008000"/>
                </a:highlight>
              </a:rPr>
              <a:t>Analysis of Results, England, Spain and Germany</a:t>
            </a:r>
            <a:endParaRPr lang="en-ZA" dirty="0">
              <a:solidFill>
                <a:schemeClr val="bg1"/>
              </a:solidFill>
              <a:highlight>
                <a:srgbClr val="008000"/>
              </a:highlight>
            </a:endParaRPr>
          </a:p>
        </p:txBody>
      </p:sp>
      <p:sp>
        <p:nvSpPr>
          <p:cNvPr id="3" name="Content Placeholder 2">
            <a:extLst>
              <a:ext uri="{FF2B5EF4-FFF2-40B4-BE49-F238E27FC236}">
                <a16:creationId xmlns:a16="http://schemas.microsoft.com/office/drawing/2014/main" id="{69266E5B-657D-F2F1-F49E-5CF253BC91C2}"/>
              </a:ext>
            </a:extLst>
          </p:cNvPr>
          <p:cNvSpPr>
            <a:spLocks noGrp="1"/>
          </p:cNvSpPr>
          <p:nvPr>
            <p:ph idx="1"/>
          </p:nvPr>
        </p:nvSpPr>
        <p:spPr>
          <a:xfrm>
            <a:off x="0" y="1134532"/>
            <a:ext cx="12192000" cy="5723467"/>
          </a:xfrm>
        </p:spPr>
        <p:txBody>
          <a:bodyPr>
            <a:noAutofit/>
          </a:bodyPr>
          <a:lstStyle/>
          <a:p>
            <a:pPr marL="0" indent="0">
              <a:lnSpc>
                <a:spcPct val="150000"/>
              </a:lnSpc>
              <a:buNone/>
            </a:pPr>
            <a:r>
              <a:rPr lang="en-US" sz="3200" dirty="0">
                <a:solidFill>
                  <a:schemeClr val="bg1"/>
                </a:solidFill>
                <a:highlight>
                  <a:srgbClr val="800000"/>
                </a:highlight>
              </a:rPr>
              <a:t>Interesting Insights:</a:t>
            </a:r>
          </a:p>
          <a:p>
            <a:pPr>
              <a:lnSpc>
                <a:spcPct val="150000"/>
              </a:lnSpc>
            </a:pPr>
            <a:r>
              <a:rPr lang="en-US" sz="3200" dirty="0">
                <a:solidFill>
                  <a:schemeClr val="bg1"/>
                </a:solidFill>
                <a:highlight>
                  <a:srgbClr val="800000"/>
                </a:highlight>
              </a:rPr>
              <a:t>Lower-league clubs dominate - Bolton, Shrewsbury, Burton Albion, Chesterfield. These clubs rely more heavily on local/English talent. Less money to buy international players</a:t>
            </a:r>
          </a:p>
          <a:p>
            <a:pPr>
              <a:lnSpc>
                <a:spcPct val="150000"/>
              </a:lnSpc>
            </a:pPr>
            <a:r>
              <a:rPr lang="en-US" sz="3200" dirty="0">
                <a:solidFill>
                  <a:schemeClr val="bg1"/>
                </a:solidFill>
                <a:highlight>
                  <a:srgbClr val="800000"/>
                </a:highlight>
              </a:rPr>
              <a:t>Similar numbers (22-24) - Very consistent across top clubs Suggests squad size regulations. Most clubs have similar roster compositions</a:t>
            </a:r>
          </a:p>
          <a:p>
            <a:endParaRPr lang="en-ZA" sz="3200" dirty="0">
              <a:solidFill>
                <a:schemeClr val="bg1"/>
              </a:solidFill>
              <a:highlight>
                <a:srgbClr val="800000"/>
              </a:highlight>
            </a:endParaRPr>
          </a:p>
        </p:txBody>
      </p:sp>
    </p:spTree>
    <p:extLst>
      <p:ext uri="{BB962C8B-B14F-4D97-AF65-F5344CB8AC3E}">
        <p14:creationId xmlns:p14="http://schemas.microsoft.com/office/powerpoint/2010/main" val="988428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D9A23-0F9E-2432-09C7-75F8549C80C3}"/>
              </a:ext>
            </a:extLst>
          </p:cNvPr>
          <p:cNvSpPr>
            <a:spLocks noGrp="1"/>
          </p:cNvSpPr>
          <p:nvPr>
            <p:ph type="title"/>
          </p:nvPr>
        </p:nvSpPr>
        <p:spPr>
          <a:xfrm>
            <a:off x="0" y="18256"/>
            <a:ext cx="12192000" cy="642144"/>
          </a:xfrm>
        </p:spPr>
        <p:txBody>
          <a:bodyPr>
            <a:normAutofit fontScale="90000"/>
          </a:bodyPr>
          <a:lstStyle/>
          <a:p>
            <a:r>
              <a:rPr lang="en-US" b="1" dirty="0">
                <a:solidFill>
                  <a:schemeClr val="bg1"/>
                </a:solidFill>
                <a:highlight>
                  <a:srgbClr val="0000FF"/>
                </a:highlight>
              </a:rPr>
              <a:t>Interpretation Continued</a:t>
            </a:r>
            <a:endParaRPr lang="en-ZA" b="1" dirty="0">
              <a:solidFill>
                <a:schemeClr val="bg1"/>
              </a:solidFill>
              <a:highlight>
                <a:srgbClr val="0000FF"/>
              </a:highlight>
            </a:endParaRPr>
          </a:p>
        </p:txBody>
      </p:sp>
      <p:sp>
        <p:nvSpPr>
          <p:cNvPr id="3" name="Content Placeholder 2">
            <a:extLst>
              <a:ext uri="{FF2B5EF4-FFF2-40B4-BE49-F238E27FC236}">
                <a16:creationId xmlns:a16="http://schemas.microsoft.com/office/drawing/2014/main" id="{CF9CFBFD-549C-BD52-C2FF-B1805B5423A9}"/>
              </a:ext>
            </a:extLst>
          </p:cNvPr>
          <p:cNvSpPr>
            <a:spLocks noGrp="1"/>
          </p:cNvSpPr>
          <p:nvPr>
            <p:ph idx="1"/>
          </p:nvPr>
        </p:nvSpPr>
        <p:spPr>
          <a:xfrm>
            <a:off x="0" y="660400"/>
            <a:ext cx="12192000" cy="6350000"/>
          </a:xfrm>
        </p:spPr>
        <p:txBody>
          <a:bodyPr>
            <a:noAutofit/>
          </a:bodyPr>
          <a:lstStyle/>
          <a:p>
            <a:pPr>
              <a:lnSpc>
                <a:spcPct val="150000"/>
              </a:lnSpc>
            </a:pPr>
            <a:r>
              <a:rPr lang="en-US" sz="3200" b="1" dirty="0">
                <a:solidFill>
                  <a:schemeClr val="bg1"/>
                </a:solidFill>
                <a:highlight>
                  <a:srgbClr val="000000"/>
                </a:highlight>
              </a:rPr>
              <a:t>Notable absences - Big Premier League clubs (Man United, Chelsea, Liverpool) aren't in top 10 .</a:t>
            </a:r>
          </a:p>
          <a:p>
            <a:pPr>
              <a:lnSpc>
                <a:spcPct val="150000"/>
              </a:lnSpc>
            </a:pPr>
            <a:r>
              <a:rPr lang="en-US" sz="3200" b="1" dirty="0">
                <a:solidFill>
                  <a:schemeClr val="bg1"/>
                </a:solidFill>
                <a:highlight>
                  <a:srgbClr val="000000"/>
                </a:highlight>
              </a:rPr>
              <a:t>They have more international players</a:t>
            </a:r>
          </a:p>
          <a:p>
            <a:pPr>
              <a:lnSpc>
                <a:spcPct val="150000"/>
              </a:lnSpc>
            </a:pPr>
            <a:r>
              <a:rPr lang="en-US" sz="3200" b="1" dirty="0">
                <a:solidFill>
                  <a:schemeClr val="bg1"/>
                </a:solidFill>
                <a:highlight>
                  <a:srgbClr val="000000"/>
                </a:highlight>
              </a:rPr>
              <a:t>Premier League is more global</a:t>
            </a:r>
          </a:p>
          <a:p>
            <a:pPr marL="0" indent="0">
              <a:lnSpc>
                <a:spcPct val="150000"/>
              </a:lnSpc>
              <a:buNone/>
            </a:pPr>
            <a:r>
              <a:rPr lang="en-US" sz="3200" b="1" dirty="0">
                <a:solidFill>
                  <a:schemeClr val="bg1"/>
                </a:solidFill>
                <a:highlight>
                  <a:srgbClr val="000000"/>
                </a:highlight>
              </a:rPr>
              <a:t>Interestingly, lower-tier English clubs (Championship/League One) have the highest absolute numbers of English players (22-24), compared to Premier League giants like Manchester United (15) or Chelsea</a:t>
            </a:r>
            <a:endParaRPr lang="en-ZA" sz="3200" b="1" dirty="0">
              <a:solidFill>
                <a:schemeClr val="bg1"/>
              </a:solidFill>
              <a:highlight>
                <a:srgbClr val="000000"/>
              </a:highlight>
            </a:endParaRPr>
          </a:p>
        </p:txBody>
      </p:sp>
    </p:spTree>
    <p:extLst>
      <p:ext uri="{BB962C8B-B14F-4D97-AF65-F5344CB8AC3E}">
        <p14:creationId xmlns:p14="http://schemas.microsoft.com/office/powerpoint/2010/main" val="1246660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DE66A-67C6-FD1F-9226-DB4C500F3E7A}"/>
              </a:ext>
            </a:extLst>
          </p:cNvPr>
          <p:cNvSpPr>
            <a:spLocks noGrp="1"/>
          </p:cNvSpPr>
          <p:nvPr>
            <p:ph type="title"/>
          </p:nvPr>
        </p:nvSpPr>
        <p:spPr>
          <a:xfrm>
            <a:off x="-1" y="0"/>
            <a:ext cx="12073467" cy="1185333"/>
          </a:xfrm>
        </p:spPr>
        <p:txBody>
          <a:bodyPr>
            <a:normAutofit fontScale="90000"/>
          </a:bodyPr>
          <a:lstStyle/>
          <a:p>
            <a:r>
              <a:rPr lang="en-ZA" b="1" dirty="0">
                <a:solidFill>
                  <a:schemeClr val="bg1"/>
                </a:solidFill>
                <a:highlight>
                  <a:srgbClr val="FF0000"/>
                </a:highlight>
              </a:rPr>
              <a:t>The wages of a player influenced by the potential of a player</a:t>
            </a:r>
          </a:p>
        </p:txBody>
      </p:sp>
      <p:pic>
        <p:nvPicPr>
          <p:cNvPr id="5" name="Content Placeholder 4">
            <a:extLst>
              <a:ext uri="{FF2B5EF4-FFF2-40B4-BE49-F238E27FC236}">
                <a16:creationId xmlns:a16="http://schemas.microsoft.com/office/drawing/2014/main" id="{B6E5033E-3D00-1932-BCE2-1162565DC97C}"/>
              </a:ext>
            </a:extLst>
          </p:cNvPr>
          <p:cNvPicPr>
            <a:picLocks noGrp="1" noChangeAspect="1"/>
          </p:cNvPicPr>
          <p:nvPr>
            <p:ph idx="1"/>
          </p:nvPr>
        </p:nvPicPr>
        <p:blipFill>
          <a:blip r:embed="rId2"/>
          <a:stretch>
            <a:fillRect/>
          </a:stretch>
        </p:blipFill>
        <p:spPr>
          <a:xfrm>
            <a:off x="1" y="1185334"/>
            <a:ext cx="12192000" cy="5283200"/>
          </a:xfrm>
          <a:prstGeom prst="rect">
            <a:avLst/>
          </a:prstGeom>
        </p:spPr>
      </p:pic>
    </p:spTree>
    <p:extLst>
      <p:ext uri="{BB962C8B-B14F-4D97-AF65-F5344CB8AC3E}">
        <p14:creationId xmlns:p14="http://schemas.microsoft.com/office/powerpoint/2010/main" val="2043136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7D85E-41FC-2DA0-2CC8-CC062260F666}"/>
              </a:ext>
            </a:extLst>
          </p:cNvPr>
          <p:cNvSpPr>
            <a:spLocks noGrp="1"/>
          </p:cNvSpPr>
          <p:nvPr>
            <p:ph type="title"/>
          </p:nvPr>
        </p:nvSpPr>
        <p:spPr>
          <a:xfrm>
            <a:off x="0" y="1"/>
            <a:ext cx="12192000" cy="1032932"/>
          </a:xfrm>
        </p:spPr>
        <p:txBody>
          <a:bodyPr>
            <a:normAutofit fontScale="90000"/>
          </a:bodyPr>
          <a:lstStyle/>
          <a:p>
            <a:r>
              <a:rPr lang="en-ZA" b="1" dirty="0">
                <a:solidFill>
                  <a:schemeClr val="bg1"/>
                </a:solidFill>
                <a:highlight>
                  <a:srgbClr val="FF0000"/>
                </a:highlight>
              </a:rPr>
              <a:t>The wages of a player influenced by the potential of a player</a:t>
            </a:r>
            <a:endParaRPr lang="en-ZA" dirty="0"/>
          </a:p>
        </p:txBody>
      </p:sp>
      <p:sp>
        <p:nvSpPr>
          <p:cNvPr id="3" name="Content Placeholder 2">
            <a:extLst>
              <a:ext uri="{FF2B5EF4-FFF2-40B4-BE49-F238E27FC236}">
                <a16:creationId xmlns:a16="http://schemas.microsoft.com/office/drawing/2014/main" id="{1AED9A4B-8610-EA57-7752-20D4E2B05372}"/>
              </a:ext>
            </a:extLst>
          </p:cNvPr>
          <p:cNvSpPr>
            <a:spLocks noGrp="1"/>
          </p:cNvSpPr>
          <p:nvPr>
            <p:ph idx="1"/>
          </p:nvPr>
        </p:nvSpPr>
        <p:spPr>
          <a:xfrm>
            <a:off x="-1" y="1032933"/>
            <a:ext cx="12191999" cy="5825066"/>
          </a:xfrm>
        </p:spPr>
        <p:txBody>
          <a:bodyPr/>
          <a:lstStyle/>
          <a:p>
            <a:pPr>
              <a:lnSpc>
                <a:spcPct val="150000"/>
              </a:lnSpc>
            </a:pPr>
            <a:r>
              <a:rPr lang="en-US" b="1" dirty="0">
                <a:solidFill>
                  <a:schemeClr val="bg1"/>
                </a:solidFill>
                <a:highlight>
                  <a:srgbClr val="0000FF"/>
                </a:highlight>
              </a:rPr>
              <a:t>My analysis of players aged 16-28 reveals a striking trend: An exponential increase in wages as potential rating rises. The scatter plot visualization is a powerful demonstration of this, showing that players with a potential rating of 90+ can earn up to 10 times more than those with a 65 potential. This consistent relationship across all age groups within the 16-28 range underscores the impact of potential on determining compensation packages for younger players. The correlation coefficient, a robust 0.7-0.8, further solidifies the significance of potential as a primary driver of wages in this age cohort.</a:t>
            </a:r>
            <a:endParaRPr lang="en-ZA" b="1" dirty="0">
              <a:solidFill>
                <a:schemeClr val="bg1"/>
              </a:solidFill>
              <a:highlight>
                <a:srgbClr val="0000FF"/>
              </a:highlight>
            </a:endParaRPr>
          </a:p>
        </p:txBody>
      </p:sp>
    </p:spTree>
    <p:extLst>
      <p:ext uri="{BB962C8B-B14F-4D97-AF65-F5344CB8AC3E}">
        <p14:creationId xmlns:p14="http://schemas.microsoft.com/office/powerpoint/2010/main" val="2636012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DAF4-88D3-0FF4-AB45-4F5406F7404D}"/>
              </a:ext>
            </a:extLst>
          </p:cNvPr>
          <p:cNvSpPr>
            <a:spLocks noGrp="1"/>
          </p:cNvSpPr>
          <p:nvPr>
            <p:ph type="title"/>
          </p:nvPr>
        </p:nvSpPr>
        <p:spPr>
          <a:xfrm>
            <a:off x="-1" y="1"/>
            <a:ext cx="12039599" cy="711199"/>
          </a:xfrm>
        </p:spPr>
        <p:txBody>
          <a:bodyPr/>
          <a:lstStyle/>
          <a:p>
            <a:r>
              <a:rPr lang="en-ZA" b="1" dirty="0">
                <a:solidFill>
                  <a:schemeClr val="bg1"/>
                </a:solidFill>
                <a:highlight>
                  <a:srgbClr val="008000"/>
                </a:highlight>
              </a:rPr>
              <a:t>Potential of a Player and Wages</a:t>
            </a:r>
          </a:p>
        </p:txBody>
      </p:sp>
      <p:pic>
        <p:nvPicPr>
          <p:cNvPr id="14" name="Content Placeholder 13">
            <a:extLst>
              <a:ext uri="{FF2B5EF4-FFF2-40B4-BE49-F238E27FC236}">
                <a16:creationId xmlns:a16="http://schemas.microsoft.com/office/drawing/2014/main" id="{3981A74F-C5B8-413B-0ACC-8F89BB6DB153}"/>
              </a:ext>
            </a:extLst>
          </p:cNvPr>
          <p:cNvPicPr>
            <a:picLocks noGrp="1" noChangeAspect="1"/>
          </p:cNvPicPr>
          <p:nvPr>
            <p:ph idx="1"/>
          </p:nvPr>
        </p:nvPicPr>
        <p:blipFill>
          <a:blip r:embed="rId2"/>
          <a:stretch>
            <a:fillRect/>
          </a:stretch>
        </p:blipFill>
        <p:spPr>
          <a:xfrm>
            <a:off x="1" y="1557867"/>
            <a:ext cx="12039600" cy="5164665"/>
          </a:xfrm>
          <a:prstGeom prst="rect">
            <a:avLst/>
          </a:prstGeom>
        </p:spPr>
      </p:pic>
    </p:spTree>
    <p:extLst>
      <p:ext uri="{BB962C8B-B14F-4D97-AF65-F5344CB8AC3E}">
        <p14:creationId xmlns:p14="http://schemas.microsoft.com/office/powerpoint/2010/main" val="1045436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D023-BBB6-ADD7-FB95-1E72B2E7BED9}"/>
              </a:ext>
            </a:extLst>
          </p:cNvPr>
          <p:cNvSpPr>
            <a:spLocks noGrp="1"/>
          </p:cNvSpPr>
          <p:nvPr>
            <p:ph type="title"/>
          </p:nvPr>
        </p:nvSpPr>
        <p:spPr>
          <a:xfrm>
            <a:off x="0" y="1"/>
            <a:ext cx="12192000" cy="931332"/>
          </a:xfrm>
        </p:spPr>
        <p:txBody>
          <a:bodyPr/>
          <a:lstStyle/>
          <a:p>
            <a:r>
              <a:rPr lang="en-ZA" b="1" dirty="0">
                <a:solidFill>
                  <a:schemeClr val="bg1"/>
                </a:solidFill>
                <a:highlight>
                  <a:srgbClr val="008000"/>
                </a:highlight>
              </a:rPr>
              <a:t>Potential of a Player and Wages Interpretation</a:t>
            </a:r>
            <a:endParaRPr lang="en-ZA" dirty="0"/>
          </a:p>
        </p:txBody>
      </p:sp>
      <p:sp>
        <p:nvSpPr>
          <p:cNvPr id="3" name="Content Placeholder 2">
            <a:extLst>
              <a:ext uri="{FF2B5EF4-FFF2-40B4-BE49-F238E27FC236}">
                <a16:creationId xmlns:a16="http://schemas.microsoft.com/office/drawing/2014/main" id="{A609E67C-DFA9-8907-3DCE-46EA365650CC}"/>
              </a:ext>
            </a:extLst>
          </p:cNvPr>
          <p:cNvSpPr>
            <a:spLocks noGrp="1"/>
          </p:cNvSpPr>
          <p:nvPr>
            <p:ph idx="1"/>
          </p:nvPr>
        </p:nvSpPr>
        <p:spPr>
          <a:xfrm>
            <a:off x="118533" y="931333"/>
            <a:ext cx="12073467" cy="5926666"/>
          </a:xfrm>
        </p:spPr>
        <p:txBody>
          <a:bodyPr>
            <a:noAutofit/>
          </a:bodyPr>
          <a:lstStyle/>
          <a:p>
            <a:pPr>
              <a:lnSpc>
                <a:spcPct val="150000"/>
              </a:lnSpc>
            </a:pPr>
            <a:r>
              <a:rPr lang="en-US" sz="3600" b="1" dirty="0"/>
              <a:t>Analysis of players with overall ratings 80-85 reveals that defenders have significantly higher aggression ratings than strikers:</a:t>
            </a:r>
            <a:endParaRPr lang="en-US" sz="3600" dirty="0"/>
          </a:p>
          <a:p>
            <a:pPr>
              <a:lnSpc>
                <a:spcPct val="150000"/>
              </a:lnSpc>
            </a:pPr>
            <a:r>
              <a:rPr lang="en-US" sz="3600" b="1" dirty="0"/>
              <a:t>Defenders:</a:t>
            </a:r>
            <a:r>
              <a:rPr lang="en-US" sz="3600" dirty="0"/>
              <a:t> 79.17 average aggression</a:t>
            </a:r>
          </a:p>
          <a:p>
            <a:pPr>
              <a:lnSpc>
                <a:spcPct val="150000"/>
              </a:lnSpc>
            </a:pPr>
            <a:r>
              <a:rPr lang="en-US" sz="3600" b="1" dirty="0"/>
              <a:t>Strikers:</a:t>
            </a:r>
            <a:r>
              <a:rPr lang="en-US" sz="3600" dirty="0"/>
              <a:t> 65.87 average aggression</a:t>
            </a:r>
          </a:p>
          <a:p>
            <a:pPr>
              <a:lnSpc>
                <a:spcPct val="150000"/>
              </a:lnSpc>
            </a:pPr>
            <a:r>
              <a:rPr lang="en-US" sz="3600" b="1" dirty="0"/>
              <a:t>Difference:</a:t>
            </a:r>
            <a:r>
              <a:rPr lang="en-US" sz="3600" dirty="0"/>
              <a:t> +13.3 points (20% higher for defenders)</a:t>
            </a:r>
          </a:p>
          <a:p>
            <a:pPr>
              <a:lnSpc>
                <a:spcPct val="150000"/>
              </a:lnSpc>
            </a:pPr>
            <a:endParaRPr lang="en-ZA" sz="3200" dirty="0"/>
          </a:p>
        </p:txBody>
      </p:sp>
    </p:spTree>
    <p:extLst>
      <p:ext uri="{BB962C8B-B14F-4D97-AF65-F5344CB8AC3E}">
        <p14:creationId xmlns:p14="http://schemas.microsoft.com/office/powerpoint/2010/main" val="3182506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EEE7-1172-E550-5712-BCD772D643EF}"/>
              </a:ext>
            </a:extLst>
          </p:cNvPr>
          <p:cNvSpPr>
            <a:spLocks noGrp="1"/>
          </p:cNvSpPr>
          <p:nvPr>
            <p:ph type="title"/>
          </p:nvPr>
        </p:nvSpPr>
        <p:spPr>
          <a:xfrm>
            <a:off x="-1" y="1"/>
            <a:ext cx="12191999" cy="1168399"/>
          </a:xfrm>
        </p:spPr>
        <p:txBody>
          <a:bodyPr/>
          <a:lstStyle/>
          <a:p>
            <a:r>
              <a:rPr lang="en-US" b="1" dirty="0">
                <a:highlight>
                  <a:srgbClr val="00FF00"/>
                </a:highlight>
              </a:rPr>
              <a:t>Continued</a:t>
            </a:r>
            <a:endParaRPr lang="en-ZA" b="1" dirty="0">
              <a:highlight>
                <a:srgbClr val="00FF00"/>
              </a:highlight>
            </a:endParaRPr>
          </a:p>
        </p:txBody>
      </p:sp>
      <p:sp>
        <p:nvSpPr>
          <p:cNvPr id="3" name="Content Placeholder 2">
            <a:extLst>
              <a:ext uri="{FF2B5EF4-FFF2-40B4-BE49-F238E27FC236}">
                <a16:creationId xmlns:a16="http://schemas.microsoft.com/office/drawing/2014/main" id="{EDD37AB7-9024-9A9F-0C2E-2A1C92F0BFC2}"/>
              </a:ext>
            </a:extLst>
          </p:cNvPr>
          <p:cNvSpPr>
            <a:spLocks noGrp="1"/>
          </p:cNvSpPr>
          <p:nvPr>
            <p:ph idx="1"/>
          </p:nvPr>
        </p:nvSpPr>
        <p:spPr>
          <a:xfrm>
            <a:off x="0" y="1168400"/>
            <a:ext cx="12192000" cy="5689599"/>
          </a:xfrm>
        </p:spPr>
        <p:txBody>
          <a:bodyPr>
            <a:normAutofit lnSpcReduction="10000"/>
          </a:bodyPr>
          <a:lstStyle/>
          <a:p>
            <a:pPr>
              <a:lnSpc>
                <a:spcPct val="150000"/>
              </a:lnSpc>
            </a:pPr>
            <a:r>
              <a:rPr lang="en-US" sz="3600" b="1" dirty="0">
                <a:solidFill>
                  <a:schemeClr val="bg1"/>
                </a:solidFill>
                <a:highlight>
                  <a:srgbClr val="008080"/>
                </a:highlight>
              </a:rPr>
              <a:t>The above pattern is not just a statistical observation, but a strategic necessity in football tactics. Defenders, in their role of breaking down opponent attacks, require aggression for tackling and physical duels. On the other hand, strikers, who are primarily responsible for scoring, prioritize finishing and positioning skills over aggressive play.</a:t>
            </a:r>
          </a:p>
          <a:p>
            <a:endParaRPr lang="en-ZA" b="1" dirty="0">
              <a:solidFill>
                <a:schemeClr val="bg1"/>
              </a:solidFill>
            </a:endParaRPr>
          </a:p>
        </p:txBody>
      </p:sp>
    </p:spTree>
    <p:extLst>
      <p:ext uri="{BB962C8B-B14F-4D97-AF65-F5344CB8AC3E}">
        <p14:creationId xmlns:p14="http://schemas.microsoft.com/office/powerpoint/2010/main" val="1995033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3A490-C555-F802-BFC6-7FF72A811D8B}"/>
              </a:ext>
            </a:extLst>
          </p:cNvPr>
          <p:cNvSpPr>
            <a:spLocks noGrp="1"/>
          </p:cNvSpPr>
          <p:nvPr>
            <p:ph type="title"/>
          </p:nvPr>
        </p:nvSpPr>
        <p:spPr>
          <a:xfrm>
            <a:off x="118533" y="1"/>
            <a:ext cx="12073467" cy="1690688"/>
          </a:xfrm>
        </p:spPr>
        <p:txBody>
          <a:bodyPr/>
          <a:lstStyle/>
          <a:p>
            <a:r>
              <a:rPr lang="en-US" b="1" dirty="0">
                <a:highlight>
                  <a:srgbClr val="FF00FF"/>
                </a:highlight>
              </a:rPr>
              <a:t>Continued</a:t>
            </a:r>
            <a:endParaRPr lang="en-ZA" b="1" dirty="0">
              <a:highlight>
                <a:srgbClr val="FF00FF"/>
              </a:highlight>
            </a:endParaRPr>
          </a:p>
        </p:txBody>
      </p:sp>
      <p:sp>
        <p:nvSpPr>
          <p:cNvPr id="3" name="Content Placeholder 2">
            <a:extLst>
              <a:ext uri="{FF2B5EF4-FFF2-40B4-BE49-F238E27FC236}">
                <a16:creationId xmlns:a16="http://schemas.microsoft.com/office/drawing/2014/main" id="{BED71B79-56F0-1B84-96A4-9715E944F69A}"/>
              </a:ext>
            </a:extLst>
          </p:cNvPr>
          <p:cNvSpPr>
            <a:spLocks noGrp="1"/>
          </p:cNvSpPr>
          <p:nvPr>
            <p:ph idx="1"/>
          </p:nvPr>
        </p:nvSpPr>
        <p:spPr>
          <a:xfrm>
            <a:off x="0" y="1690688"/>
            <a:ext cx="12192000" cy="5167311"/>
          </a:xfrm>
        </p:spPr>
        <p:txBody>
          <a:bodyPr>
            <a:normAutofit/>
          </a:bodyPr>
          <a:lstStyle/>
          <a:p>
            <a:pPr>
              <a:lnSpc>
                <a:spcPct val="150000"/>
              </a:lnSpc>
            </a:pPr>
            <a:r>
              <a:rPr lang="en-US" sz="3600" b="1" dirty="0">
                <a:solidFill>
                  <a:schemeClr val="bg1"/>
                </a:solidFill>
                <a:highlight>
                  <a:srgbClr val="0000FF"/>
                </a:highlight>
              </a:rPr>
              <a:t>Defenders, with their average aggression levels of approximately 65 points, demonstrate the highest aggression among elite players (overall 80-90). This confirms that defensive positions, which prioritize physical and aggressive gameplay attributes, hold a significant competitive edge in the game.</a:t>
            </a:r>
            <a:endParaRPr lang="en-ZA" sz="3600" dirty="0">
              <a:solidFill>
                <a:schemeClr val="bg1"/>
              </a:solidFill>
              <a:highlight>
                <a:srgbClr val="0000FF"/>
              </a:highlight>
            </a:endParaRPr>
          </a:p>
        </p:txBody>
      </p:sp>
    </p:spTree>
    <p:extLst>
      <p:ext uri="{BB962C8B-B14F-4D97-AF65-F5344CB8AC3E}">
        <p14:creationId xmlns:p14="http://schemas.microsoft.com/office/powerpoint/2010/main" val="2705007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blue bars&#10;&#10;AI-generated content may be incorrect.">
            <a:extLst>
              <a:ext uri="{FF2B5EF4-FFF2-40B4-BE49-F238E27FC236}">
                <a16:creationId xmlns:a16="http://schemas.microsoft.com/office/drawing/2014/main" id="{F78D3487-41DF-F6AC-9CF0-42B33D4372CE}"/>
              </a:ext>
            </a:extLst>
          </p:cNvPr>
          <p:cNvPicPr>
            <a:picLocks noChangeAspect="1"/>
          </p:cNvPicPr>
          <p:nvPr/>
        </p:nvPicPr>
        <p:blipFill>
          <a:blip r:embed="rId2"/>
          <a:srcRect t="23844" r="1" b="1"/>
          <a:stretch>
            <a:fillRect/>
          </a:stretch>
        </p:blipFill>
        <p:spPr>
          <a:xfrm>
            <a:off x="-1" y="10"/>
            <a:ext cx="12228129" cy="4666928"/>
          </a:xfrm>
          <a:prstGeom prst="rect">
            <a:avLst/>
          </a:prstGeom>
        </p:spPr>
      </p:pic>
      <p:grpSp>
        <p:nvGrpSpPr>
          <p:cNvPr id="21" name="Group 2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2" name="Freeform: Shape 2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5" name="Freeform: Shape 2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65FA1F84-F791-DAB7-9E92-D35BB651E8AC}"/>
              </a:ext>
            </a:extLst>
          </p:cNvPr>
          <p:cNvSpPr>
            <a:spLocks noGrp="1"/>
          </p:cNvSpPr>
          <p:nvPr>
            <p:ph type="title"/>
          </p:nvPr>
        </p:nvSpPr>
        <p:spPr>
          <a:xfrm>
            <a:off x="36127" y="4551037"/>
            <a:ext cx="12191695" cy="2306953"/>
          </a:xfrm>
        </p:spPr>
        <p:txBody>
          <a:bodyPr vert="horz" lIns="91440" tIns="45720" rIns="91440" bIns="45720" rtlCol="0">
            <a:noAutofit/>
          </a:bodyPr>
          <a:lstStyle/>
          <a:p>
            <a:pPr>
              <a:lnSpc>
                <a:spcPct val="150000"/>
              </a:lnSpc>
            </a:pPr>
            <a:br>
              <a:rPr lang="en-US" sz="3600" b="1" dirty="0">
                <a:solidFill>
                  <a:schemeClr val="bg1"/>
                </a:solidFill>
                <a:highlight>
                  <a:srgbClr val="800080"/>
                </a:highlight>
              </a:rPr>
            </a:br>
            <a:r>
              <a:rPr lang="en-US" sz="3600" b="1" dirty="0">
                <a:solidFill>
                  <a:schemeClr val="bg1"/>
                </a:solidFill>
                <a:highlight>
                  <a:srgbClr val="800080"/>
                </a:highlight>
              </a:rPr>
              <a:t>The Plot Aggression, Acceleration, Agility, Balance and Ball Control for strikers and Goal Keepers in a single line/Bar plot to understand the Positional Difference.</a:t>
            </a:r>
            <a:br>
              <a:rPr lang="en-US" sz="3600" b="1" dirty="0">
                <a:solidFill>
                  <a:schemeClr val="bg1"/>
                </a:solidFill>
                <a:highlight>
                  <a:srgbClr val="800080"/>
                </a:highlight>
              </a:rPr>
            </a:br>
            <a:endParaRPr lang="en-US" sz="3600" b="1" dirty="0">
              <a:solidFill>
                <a:schemeClr val="bg1"/>
              </a:solidFill>
              <a:highlight>
                <a:srgbClr val="800080"/>
              </a:highlight>
            </a:endParaRPr>
          </a:p>
        </p:txBody>
      </p:sp>
    </p:spTree>
    <p:extLst>
      <p:ext uri="{BB962C8B-B14F-4D97-AF65-F5344CB8AC3E}">
        <p14:creationId xmlns:p14="http://schemas.microsoft.com/office/powerpoint/2010/main" val="3714927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91865-9C39-4472-4C5D-D77799209542}"/>
              </a:ext>
            </a:extLst>
          </p:cNvPr>
          <p:cNvSpPr>
            <a:spLocks noGrp="1"/>
          </p:cNvSpPr>
          <p:nvPr>
            <p:ph type="title"/>
          </p:nvPr>
        </p:nvSpPr>
        <p:spPr>
          <a:xfrm>
            <a:off x="0" y="1"/>
            <a:ext cx="12192000" cy="1117599"/>
          </a:xfrm>
        </p:spPr>
        <p:txBody>
          <a:bodyPr>
            <a:normAutofit fontScale="90000"/>
          </a:bodyPr>
          <a:lstStyle/>
          <a:p>
            <a:r>
              <a:rPr lang="en-ZA" b="1" dirty="0">
                <a:highlight>
                  <a:srgbClr val="00FF00"/>
                </a:highlight>
              </a:rPr>
              <a:t>Based on the positional data, players are profiled for different roles/classes. </a:t>
            </a:r>
          </a:p>
        </p:txBody>
      </p:sp>
      <p:sp>
        <p:nvSpPr>
          <p:cNvPr id="3" name="Content Placeholder 2">
            <a:extLst>
              <a:ext uri="{FF2B5EF4-FFF2-40B4-BE49-F238E27FC236}">
                <a16:creationId xmlns:a16="http://schemas.microsoft.com/office/drawing/2014/main" id="{E00E6B2A-1430-36CA-D562-81AD8360D009}"/>
              </a:ext>
            </a:extLst>
          </p:cNvPr>
          <p:cNvSpPr>
            <a:spLocks noGrp="1"/>
          </p:cNvSpPr>
          <p:nvPr>
            <p:ph idx="1"/>
          </p:nvPr>
        </p:nvSpPr>
        <p:spPr>
          <a:xfrm>
            <a:off x="0" y="1117600"/>
            <a:ext cx="12192000" cy="5740399"/>
          </a:xfrm>
        </p:spPr>
        <p:txBody>
          <a:bodyPr>
            <a:noAutofit/>
          </a:bodyPr>
          <a:lstStyle/>
          <a:p>
            <a:pPr>
              <a:lnSpc>
                <a:spcPct val="150000"/>
              </a:lnSpc>
            </a:pPr>
            <a:r>
              <a:rPr lang="en-US" b="1" dirty="0">
                <a:highlight>
                  <a:srgbClr val="00FFFF"/>
                </a:highlight>
              </a:rPr>
              <a:t>Analysis of five key attributes reveals distinct positional profiles between Strikers and Goalkeepers:</a:t>
            </a:r>
            <a:endParaRPr lang="en-US" dirty="0">
              <a:highlight>
                <a:srgbClr val="00FFFF"/>
              </a:highlight>
            </a:endParaRPr>
          </a:p>
          <a:p>
            <a:pPr>
              <a:lnSpc>
                <a:spcPct val="150000"/>
              </a:lnSpc>
            </a:pPr>
            <a:r>
              <a:rPr lang="en-US" b="1" dirty="0">
                <a:highlight>
                  <a:srgbClr val="00FFFF"/>
                </a:highlight>
              </a:rPr>
              <a:t>Strikers (Attacking Profile):</a:t>
            </a:r>
            <a:endParaRPr lang="en-US" dirty="0">
              <a:highlight>
                <a:srgbClr val="00FFFF"/>
              </a:highlight>
            </a:endParaRPr>
          </a:p>
          <a:p>
            <a:pPr>
              <a:lnSpc>
                <a:spcPct val="150000"/>
              </a:lnSpc>
            </a:pPr>
            <a:r>
              <a:rPr lang="en-US" dirty="0">
                <a:highlight>
                  <a:srgbClr val="00FFFF"/>
                </a:highlight>
              </a:rPr>
              <a:t>Significantly higher in all attacking attributes: Ball Control (+46), Acceleration (+35), Balance &amp; Agility (+28 each), and Aggression (+24)</a:t>
            </a:r>
          </a:p>
          <a:p>
            <a:pPr>
              <a:lnSpc>
                <a:spcPct val="150000"/>
              </a:lnSpc>
            </a:pPr>
            <a:r>
              <a:rPr lang="en-US" dirty="0">
                <a:highlight>
                  <a:srgbClr val="00FFFF"/>
                </a:highlight>
              </a:rPr>
              <a:t>Average ratings: 60-75 across offensive skills</a:t>
            </a:r>
          </a:p>
          <a:p>
            <a:pPr>
              <a:lnSpc>
                <a:spcPct val="150000"/>
              </a:lnSpc>
            </a:pPr>
            <a:r>
              <a:rPr lang="en-US" dirty="0">
                <a:highlight>
                  <a:srgbClr val="00FFFF"/>
                </a:highlight>
              </a:rPr>
              <a:t>Profile: Strikers are characterized by their speed, technical skill, body control, and physicality, making them a unique and intriguing class of players </a:t>
            </a:r>
          </a:p>
          <a:p>
            <a:endParaRPr lang="en-ZA" dirty="0">
              <a:highlight>
                <a:srgbClr val="00FFFF"/>
              </a:highlight>
            </a:endParaRPr>
          </a:p>
        </p:txBody>
      </p:sp>
    </p:spTree>
    <p:extLst>
      <p:ext uri="{BB962C8B-B14F-4D97-AF65-F5344CB8AC3E}">
        <p14:creationId xmlns:p14="http://schemas.microsoft.com/office/powerpoint/2010/main" val="1622570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6DC9-2568-3F5F-8412-F0732D3C7D46}"/>
              </a:ext>
            </a:extLst>
          </p:cNvPr>
          <p:cNvSpPr>
            <a:spLocks noGrp="1"/>
          </p:cNvSpPr>
          <p:nvPr>
            <p:ph type="title"/>
          </p:nvPr>
        </p:nvSpPr>
        <p:spPr>
          <a:xfrm>
            <a:off x="0" y="1"/>
            <a:ext cx="12192000" cy="1083732"/>
          </a:xfrm>
        </p:spPr>
        <p:txBody>
          <a:bodyPr/>
          <a:lstStyle/>
          <a:p>
            <a:r>
              <a:rPr lang="en-US" dirty="0">
                <a:highlight>
                  <a:srgbClr val="FFFF00"/>
                </a:highlight>
              </a:rPr>
              <a:t>Continued</a:t>
            </a:r>
            <a:endParaRPr lang="en-ZA" dirty="0">
              <a:highlight>
                <a:srgbClr val="FFFF00"/>
              </a:highlight>
            </a:endParaRPr>
          </a:p>
        </p:txBody>
      </p:sp>
      <p:sp>
        <p:nvSpPr>
          <p:cNvPr id="3" name="Content Placeholder 2">
            <a:extLst>
              <a:ext uri="{FF2B5EF4-FFF2-40B4-BE49-F238E27FC236}">
                <a16:creationId xmlns:a16="http://schemas.microsoft.com/office/drawing/2014/main" id="{4A5EA327-EE61-47FA-439C-53DF144B060A}"/>
              </a:ext>
            </a:extLst>
          </p:cNvPr>
          <p:cNvSpPr>
            <a:spLocks noGrp="1"/>
          </p:cNvSpPr>
          <p:nvPr>
            <p:ph idx="1"/>
          </p:nvPr>
        </p:nvSpPr>
        <p:spPr>
          <a:xfrm>
            <a:off x="-1" y="762000"/>
            <a:ext cx="12192000" cy="6248399"/>
          </a:xfrm>
        </p:spPr>
        <p:txBody>
          <a:bodyPr>
            <a:noAutofit/>
          </a:bodyPr>
          <a:lstStyle/>
          <a:p>
            <a:pPr>
              <a:lnSpc>
                <a:spcPct val="150000"/>
              </a:lnSpc>
            </a:pPr>
            <a:r>
              <a:rPr lang="en-US" sz="3200" b="1" dirty="0">
                <a:solidFill>
                  <a:schemeClr val="bg1"/>
                </a:solidFill>
                <a:highlight>
                  <a:srgbClr val="008080"/>
                </a:highlight>
              </a:rPr>
              <a:t>Goalkeepers (Specialist Profile):</a:t>
            </a:r>
          </a:p>
          <a:p>
            <a:pPr>
              <a:lnSpc>
                <a:spcPct val="150000"/>
              </a:lnSpc>
            </a:pPr>
            <a:r>
              <a:rPr lang="en-US" sz="3200" b="1" dirty="0">
                <a:solidFill>
                  <a:schemeClr val="bg1"/>
                </a:solidFill>
                <a:highlight>
                  <a:srgbClr val="008080"/>
                </a:highlight>
              </a:rPr>
              <a:t>Much lower in attacking attributes: Ball Control (22), Acceleration (40), Agility (42)</a:t>
            </a:r>
          </a:p>
          <a:p>
            <a:pPr>
              <a:lnSpc>
                <a:spcPct val="150000"/>
              </a:lnSpc>
            </a:pPr>
            <a:r>
              <a:rPr lang="en-US" sz="3200" b="1" dirty="0">
                <a:solidFill>
                  <a:schemeClr val="bg1"/>
                </a:solidFill>
                <a:highlight>
                  <a:srgbClr val="008080"/>
                </a:highlight>
              </a:rPr>
              <a:t>These low values reflect their specialized role</a:t>
            </a:r>
          </a:p>
          <a:p>
            <a:pPr>
              <a:lnSpc>
                <a:spcPct val="150000"/>
              </a:lnSpc>
            </a:pPr>
            <a:r>
              <a:rPr lang="en-US" sz="3200" b="1" dirty="0">
                <a:solidFill>
                  <a:schemeClr val="bg1"/>
                </a:solidFill>
                <a:highlight>
                  <a:srgbClr val="008080"/>
                </a:highlight>
              </a:rPr>
              <a:t>GK-specific attributes (diving, handling, reflexes) would be high instead</a:t>
            </a:r>
          </a:p>
          <a:p>
            <a:pPr>
              <a:lnSpc>
                <a:spcPct val="150000"/>
              </a:lnSpc>
            </a:pPr>
            <a:r>
              <a:rPr lang="en-US" sz="3200" b="1" dirty="0">
                <a:solidFill>
                  <a:schemeClr val="bg1"/>
                </a:solidFill>
                <a:highlight>
                  <a:srgbClr val="008080"/>
                </a:highlight>
              </a:rPr>
              <a:t>Conclusion: This analysis clearly profiles players into distinct classes based on their role. </a:t>
            </a:r>
            <a:endParaRPr lang="en-ZA" sz="3200" b="1" dirty="0">
              <a:solidFill>
                <a:schemeClr val="bg1"/>
              </a:solidFill>
              <a:highlight>
                <a:srgbClr val="008080"/>
              </a:highlight>
            </a:endParaRPr>
          </a:p>
        </p:txBody>
      </p:sp>
    </p:spTree>
    <p:extLst>
      <p:ext uri="{BB962C8B-B14F-4D97-AF65-F5344CB8AC3E}">
        <p14:creationId xmlns:p14="http://schemas.microsoft.com/office/powerpoint/2010/main" val="2702922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1733E-251E-A967-778A-1E3BF4C8C2D2}"/>
              </a:ext>
            </a:extLst>
          </p:cNvPr>
          <p:cNvSpPr>
            <a:spLocks noGrp="1"/>
          </p:cNvSpPr>
          <p:nvPr>
            <p:ph type="title"/>
          </p:nvPr>
        </p:nvSpPr>
        <p:spPr>
          <a:xfrm>
            <a:off x="135467" y="118533"/>
            <a:ext cx="12056533" cy="965201"/>
          </a:xfrm>
        </p:spPr>
        <p:txBody>
          <a:bodyPr/>
          <a:lstStyle/>
          <a:p>
            <a:r>
              <a:rPr lang="en-US" dirty="0">
                <a:highlight>
                  <a:srgbClr val="FFFF00"/>
                </a:highlight>
              </a:rPr>
              <a:t>Continued</a:t>
            </a:r>
            <a:endParaRPr lang="en-ZA" dirty="0"/>
          </a:p>
        </p:txBody>
      </p:sp>
      <p:sp>
        <p:nvSpPr>
          <p:cNvPr id="3" name="Content Placeholder 2">
            <a:extLst>
              <a:ext uri="{FF2B5EF4-FFF2-40B4-BE49-F238E27FC236}">
                <a16:creationId xmlns:a16="http://schemas.microsoft.com/office/drawing/2014/main" id="{672ED874-4031-2DC0-A792-D4361A94EE50}"/>
              </a:ext>
            </a:extLst>
          </p:cNvPr>
          <p:cNvSpPr>
            <a:spLocks noGrp="1"/>
          </p:cNvSpPr>
          <p:nvPr>
            <p:ph idx="1"/>
          </p:nvPr>
        </p:nvSpPr>
        <p:spPr>
          <a:xfrm>
            <a:off x="135467" y="1219200"/>
            <a:ext cx="12056533" cy="5520267"/>
          </a:xfrm>
        </p:spPr>
        <p:txBody>
          <a:bodyPr>
            <a:normAutofit/>
          </a:bodyPr>
          <a:lstStyle/>
          <a:p>
            <a:pPr>
              <a:lnSpc>
                <a:spcPct val="150000"/>
              </a:lnSpc>
            </a:pPr>
            <a:r>
              <a:rPr lang="en-US" sz="3600" dirty="0">
                <a:highlight>
                  <a:srgbClr val="FFFF00"/>
                </a:highlight>
              </a:rPr>
              <a:t>It reaffirms that attacking positions (Strikers) demand speed, technical ability, and physical attributes, while Goalkeepers are specialized with entirely different skill requirements. This validation of the importance of position-specific recruitment and training strategies should reassure and instill confidence in the audience.</a:t>
            </a:r>
          </a:p>
          <a:p>
            <a:endParaRPr lang="en-ZA" dirty="0"/>
          </a:p>
        </p:txBody>
      </p:sp>
    </p:spTree>
    <p:extLst>
      <p:ext uri="{BB962C8B-B14F-4D97-AF65-F5344CB8AC3E}">
        <p14:creationId xmlns:p14="http://schemas.microsoft.com/office/powerpoint/2010/main" val="2567129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40EE9-D27E-876C-23D2-278D113B7E68}"/>
              </a:ext>
            </a:extLst>
          </p:cNvPr>
          <p:cNvSpPr>
            <a:spLocks noGrp="1"/>
          </p:cNvSpPr>
          <p:nvPr>
            <p:ph type="title"/>
          </p:nvPr>
        </p:nvSpPr>
        <p:spPr>
          <a:xfrm>
            <a:off x="-1" y="1"/>
            <a:ext cx="12192001" cy="863600"/>
          </a:xfrm>
        </p:spPr>
        <p:txBody>
          <a:bodyPr>
            <a:normAutofit/>
          </a:bodyPr>
          <a:lstStyle/>
          <a:p>
            <a:r>
              <a:rPr lang="en-ZA" b="1" dirty="0">
                <a:solidFill>
                  <a:schemeClr val="bg1"/>
                </a:solidFill>
                <a:highlight>
                  <a:srgbClr val="800080"/>
                </a:highlight>
              </a:rPr>
              <a:t>Clubs With the best future players</a:t>
            </a:r>
          </a:p>
        </p:txBody>
      </p:sp>
      <p:pic>
        <p:nvPicPr>
          <p:cNvPr id="7" name="Content Placeholder 6">
            <a:extLst>
              <a:ext uri="{FF2B5EF4-FFF2-40B4-BE49-F238E27FC236}">
                <a16:creationId xmlns:a16="http://schemas.microsoft.com/office/drawing/2014/main" id="{BD6282FA-97A2-C190-2BF8-BF0109F07D53}"/>
              </a:ext>
            </a:extLst>
          </p:cNvPr>
          <p:cNvPicPr>
            <a:picLocks noGrp="1" noChangeAspect="1"/>
          </p:cNvPicPr>
          <p:nvPr>
            <p:ph idx="1"/>
          </p:nvPr>
        </p:nvPicPr>
        <p:blipFill>
          <a:blip r:embed="rId2"/>
          <a:stretch>
            <a:fillRect/>
          </a:stretch>
        </p:blipFill>
        <p:spPr>
          <a:xfrm>
            <a:off x="0" y="863601"/>
            <a:ext cx="12192000" cy="6231466"/>
          </a:xfrm>
          <a:prstGeom prst="rect">
            <a:avLst/>
          </a:prstGeom>
        </p:spPr>
      </p:pic>
    </p:spTree>
    <p:extLst>
      <p:ext uri="{BB962C8B-B14F-4D97-AF65-F5344CB8AC3E}">
        <p14:creationId xmlns:p14="http://schemas.microsoft.com/office/powerpoint/2010/main" val="3039073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AB1AE-DCCE-F057-3882-2BA02D7B9270}"/>
              </a:ext>
            </a:extLst>
          </p:cNvPr>
          <p:cNvSpPr>
            <a:spLocks noGrp="1"/>
          </p:cNvSpPr>
          <p:nvPr>
            <p:ph type="title"/>
          </p:nvPr>
        </p:nvSpPr>
        <p:spPr>
          <a:xfrm>
            <a:off x="0" y="18256"/>
            <a:ext cx="12191999" cy="1184011"/>
          </a:xfrm>
        </p:spPr>
        <p:txBody>
          <a:bodyPr>
            <a:normAutofit/>
          </a:bodyPr>
          <a:lstStyle/>
          <a:p>
            <a:r>
              <a:rPr lang="en-US" b="1" dirty="0">
                <a:solidFill>
                  <a:schemeClr val="bg1"/>
                </a:solidFill>
                <a:highlight>
                  <a:srgbClr val="800080"/>
                </a:highlight>
              </a:rPr>
              <a:t>Interpretation : </a:t>
            </a:r>
            <a:r>
              <a:rPr lang="en-US" dirty="0">
                <a:solidFill>
                  <a:schemeClr val="bg1"/>
                </a:solidFill>
                <a:highlight>
                  <a:srgbClr val="800080"/>
                </a:highlight>
              </a:rPr>
              <a:t>Clubs having the best future players</a:t>
            </a:r>
            <a:endParaRPr lang="en-ZA" dirty="0">
              <a:solidFill>
                <a:schemeClr val="bg1"/>
              </a:solidFill>
              <a:highlight>
                <a:srgbClr val="800080"/>
              </a:highlight>
            </a:endParaRPr>
          </a:p>
        </p:txBody>
      </p:sp>
      <p:sp>
        <p:nvSpPr>
          <p:cNvPr id="3" name="Content Placeholder 2">
            <a:extLst>
              <a:ext uri="{FF2B5EF4-FFF2-40B4-BE49-F238E27FC236}">
                <a16:creationId xmlns:a16="http://schemas.microsoft.com/office/drawing/2014/main" id="{983FD9D0-C0C9-2D8C-3FE0-A330C61EA300}"/>
              </a:ext>
            </a:extLst>
          </p:cNvPr>
          <p:cNvSpPr>
            <a:spLocks noGrp="1"/>
          </p:cNvSpPr>
          <p:nvPr>
            <p:ph idx="1"/>
          </p:nvPr>
        </p:nvSpPr>
        <p:spPr>
          <a:xfrm>
            <a:off x="1" y="1202267"/>
            <a:ext cx="12191998" cy="5435600"/>
          </a:xfrm>
        </p:spPr>
        <p:txBody>
          <a:bodyPr>
            <a:noAutofit/>
          </a:bodyPr>
          <a:lstStyle/>
          <a:p>
            <a:pPr>
              <a:lnSpc>
                <a:spcPct val="150000"/>
              </a:lnSpc>
            </a:pPr>
            <a:r>
              <a:rPr lang="en-US" sz="3200" b="1" dirty="0">
                <a:solidFill>
                  <a:schemeClr val="bg1"/>
                </a:solidFill>
                <a:highlight>
                  <a:srgbClr val="000000"/>
                </a:highlight>
              </a:rPr>
              <a:t>Analysis of players with current overall rating &lt;86 but potential ≥86 reveals that FC Barcelona leads with 9 future superstars, followed by Atlético Madrid (8), and a three-way tie between Borussia Dortmund, Manchester City, and Milan (7 each).</a:t>
            </a:r>
          </a:p>
          <a:p>
            <a:pPr>
              <a:lnSpc>
                <a:spcPct val="150000"/>
              </a:lnSpc>
            </a:pPr>
            <a:r>
              <a:rPr lang="en-US" sz="3200" b="1" dirty="0">
                <a:solidFill>
                  <a:schemeClr val="bg1"/>
                </a:solidFill>
                <a:highlight>
                  <a:srgbClr val="000000"/>
                </a:highlight>
              </a:rPr>
              <a:t>Key Insights: Spanish clubs dominate: Barcelona and Atletico Madrid occupy the top two positions, reflecting La Liga's strong youth development culture</a:t>
            </a:r>
          </a:p>
          <a:p>
            <a:pPr marL="0" indent="0">
              <a:buNone/>
            </a:pPr>
            <a:endParaRPr lang="en-ZA" sz="3200" b="1" dirty="0">
              <a:solidFill>
                <a:schemeClr val="bg1"/>
              </a:solidFill>
              <a:highlight>
                <a:srgbClr val="000000"/>
              </a:highlight>
            </a:endParaRPr>
          </a:p>
        </p:txBody>
      </p:sp>
    </p:spTree>
    <p:extLst>
      <p:ext uri="{BB962C8B-B14F-4D97-AF65-F5344CB8AC3E}">
        <p14:creationId xmlns:p14="http://schemas.microsoft.com/office/powerpoint/2010/main" val="283218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45CB-D136-1DDE-9FDC-1EB04970351E}"/>
              </a:ext>
            </a:extLst>
          </p:cNvPr>
          <p:cNvSpPr>
            <a:spLocks noGrp="1"/>
          </p:cNvSpPr>
          <p:nvPr>
            <p:ph type="title"/>
          </p:nvPr>
        </p:nvSpPr>
        <p:spPr>
          <a:xfrm>
            <a:off x="0" y="0"/>
            <a:ext cx="12191999" cy="914400"/>
          </a:xfrm>
        </p:spPr>
        <p:txBody>
          <a:bodyPr/>
          <a:lstStyle/>
          <a:p>
            <a:r>
              <a:rPr lang="en-US" b="1" dirty="0">
                <a:solidFill>
                  <a:schemeClr val="bg1"/>
                </a:solidFill>
                <a:highlight>
                  <a:srgbClr val="0000FF"/>
                </a:highlight>
              </a:rPr>
              <a:t>Interpretation Continued </a:t>
            </a:r>
            <a:endParaRPr lang="en-ZA" b="1" dirty="0">
              <a:solidFill>
                <a:schemeClr val="bg1"/>
              </a:solidFill>
              <a:highlight>
                <a:srgbClr val="0000FF"/>
              </a:highlight>
            </a:endParaRPr>
          </a:p>
        </p:txBody>
      </p:sp>
      <p:sp>
        <p:nvSpPr>
          <p:cNvPr id="3" name="Content Placeholder 2">
            <a:extLst>
              <a:ext uri="{FF2B5EF4-FFF2-40B4-BE49-F238E27FC236}">
                <a16:creationId xmlns:a16="http://schemas.microsoft.com/office/drawing/2014/main" id="{AFDE0C03-8E75-B8CE-332B-EB2A5C80B6EA}"/>
              </a:ext>
            </a:extLst>
          </p:cNvPr>
          <p:cNvSpPr>
            <a:spLocks noGrp="1"/>
          </p:cNvSpPr>
          <p:nvPr>
            <p:ph idx="1"/>
          </p:nvPr>
        </p:nvSpPr>
        <p:spPr>
          <a:xfrm>
            <a:off x="1" y="914400"/>
            <a:ext cx="12191998" cy="5943600"/>
          </a:xfrm>
        </p:spPr>
        <p:txBody>
          <a:bodyPr>
            <a:noAutofit/>
          </a:bodyPr>
          <a:lstStyle/>
          <a:p>
            <a:pPr>
              <a:lnSpc>
                <a:spcPct val="150000"/>
              </a:lnSpc>
            </a:pPr>
            <a:r>
              <a:rPr lang="en-US" sz="3600" b="1" dirty="0">
                <a:solidFill>
                  <a:schemeClr val="bg1"/>
                </a:solidFill>
                <a:highlight>
                  <a:srgbClr val="008080"/>
                </a:highlight>
              </a:rPr>
              <a:t>Diverse strategies:</a:t>
            </a:r>
            <a:r>
              <a:rPr lang="en-US" sz="3600" dirty="0">
                <a:solidFill>
                  <a:schemeClr val="bg1"/>
                </a:solidFill>
                <a:highlight>
                  <a:srgbClr val="008080"/>
                </a:highlight>
              </a:rPr>
              <a:t> Clubs reach the top 10 through different approaches - Barcelona's academy (La Masia), Dortmund's development model, and Manchester City's heavy investment</a:t>
            </a:r>
          </a:p>
          <a:p>
            <a:pPr>
              <a:lnSpc>
                <a:spcPct val="150000"/>
              </a:lnSpc>
            </a:pPr>
            <a:r>
              <a:rPr lang="en-US" sz="3600" b="1" dirty="0">
                <a:solidFill>
                  <a:schemeClr val="bg1"/>
                </a:solidFill>
                <a:highlight>
                  <a:srgbClr val="008080"/>
                </a:highlight>
              </a:rPr>
              <a:t>Long-term planning:</a:t>
            </a:r>
            <a:r>
              <a:rPr lang="en-US" sz="3600" dirty="0">
                <a:solidFill>
                  <a:schemeClr val="bg1"/>
                </a:solidFill>
                <a:highlight>
                  <a:srgbClr val="008080"/>
                </a:highlight>
              </a:rPr>
              <a:t> These clubs prioritize sustainable success by investing in young talent rather than only purchasing established stars</a:t>
            </a:r>
          </a:p>
          <a:p>
            <a:pPr marL="0" indent="0">
              <a:buNone/>
            </a:pPr>
            <a:endParaRPr lang="en-ZA" sz="3600" b="1" dirty="0">
              <a:solidFill>
                <a:schemeClr val="bg1"/>
              </a:solidFill>
            </a:endParaRPr>
          </a:p>
        </p:txBody>
      </p:sp>
    </p:spTree>
    <p:extLst>
      <p:ext uri="{BB962C8B-B14F-4D97-AF65-F5344CB8AC3E}">
        <p14:creationId xmlns:p14="http://schemas.microsoft.com/office/powerpoint/2010/main" val="1048591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183C-39FB-2030-57FD-A11A264D308C}"/>
              </a:ext>
            </a:extLst>
          </p:cNvPr>
          <p:cNvSpPr>
            <a:spLocks noGrp="1"/>
          </p:cNvSpPr>
          <p:nvPr>
            <p:ph type="title"/>
          </p:nvPr>
        </p:nvSpPr>
        <p:spPr>
          <a:xfrm>
            <a:off x="0" y="1"/>
            <a:ext cx="12192000" cy="1219199"/>
          </a:xfrm>
        </p:spPr>
        <p:txBody>
          <a:bodyPr/>
          <a:lstStyle/>
          <a:p>
            <a:r>
              <a:rPr lang="en-US" b="1" dirty="0">
                <a:solidFill>
                  <a:schemeClr val="bg1"/>
                </a:solidFill>
                <a:highlight>
                  <a:srgbClr val="0000FF"/>
                </a:highlight>
              </a:rPr>
              <a:t>Interpretation Continued </a:t>
            </a:r>
            <a:endParaRPr lang="en-ZA" dirty="0"/>
          </a:p>
        </p:txBody>
      </p:sp>
      <p:sp>
        <p:nvSpPr>
          <p:cNvPr id="3" name="Content Placeholder 2">
            <a:extLst>
              <a:ext uri="{FF2B5EF4-FFF2-40B4-BE49-F238E27FC236}">
                <a16:creationId xmlns:a16="http://schemas.microsoft.com/office/drawing/2014/main" id="{2E9C8BD8-8C8F-9D04-B16D-FC5402560310}"/>
              </a:ext>
            </a:extLst>
          </p:cNvPr>
          <p:cNvSpPr>
            <a:spLocks noGrp="1"/>
          </p:cNvSpPr>
          <p:nvPr>
            <p:ph idx="1"/>
          </p:nvPr>
        </p:nvSpPr>
        <p:spPr>
          <a:xfrm>
            <a:off x="118533" y="1032933"/>
            <a:ext cx="12073467" cy="5825066"/>
          </a:xfrm>
        </p:spPr>
        <p:txBody>
          <a:bodyPr>
            <a:normAutofit fontScale="92500"/>
          </a:bodyPr>
          <a:lstStyle/>
          <a:p>
            <a:pPr>
              <a:lnSpc>
                <a:spcPct val="150000"/>
              </a:lnSpc>
            </a:pPr>
            <a:r>
              <a:rPr lang="en-US" sz="3600" b="1" dirty="0">
                <a:solidFill>
                  <a:schemeClr val="bg1"/>
                </a:solidFill>
                <a:highlight>
                  <a:srgbClr val="000000"/>
                </a:highlight>
              </a:rPr>
              <a:t>Financial implications: With 9 future world-class players, Barcelona's youth pipeline represents potentially €500M+ in talent value</a:t>
            </a:r>
          </a:p>
          <a:p>
            <a:pPr>
              <a:lnSpc>
                <a:spcPct val="150000"/>
              </a:lnSpc>
            </a:pPr>
            <a:r>
              <a:rPr lang="en-US" sz="3600" b="1" dirty="0">
                <a:solidFill>
                  <a:schemeClr val="bg1"/>
                </a:solidFill>
                <a:highlight>
                  <a:srgbClr val="000000"/>
                </a:highlight>
              </a:rPr>
              <a:t>Conclusion: Elite clubs with strong youth development systems (academies, scouting, playing time philosophy) accumulate the most high-potential prospects, providing both sporting success and financial sustainability.</a:t>
            </a:r>
          </a:p>
          <a:p>
            <a:pPr>
              <a:lnSpc>
                <a:spcPct val="150000"/>
              </a:lnSpc>
            </a:pPr>
            <a:endParaRPr lang="en-ZA" sz="3600" b="1" dirty="0">
              <a:solidFill>
                <a:schemeClr val="bg1"/>
              </a:solidFill>
              <a:highlight>
                <a:srgbClr val="000000"/>
              </a:highlight>
            </a:endParaRPr>
          </a:p>
        </p:txBody>
      </p:sp>
    </p:spTree>
    <p:extLst>
      <p:ext uri="{BB962C8B-B14F-4D97-AF65-F5344CB8AC3E}">
        <p14:creationId xmlns:p14="http://schemas.microsoft.com/office/powerpoint/2010/main" val="3858961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F4BE5-CADB-484E-EFBA-9C2D84A928EA}"/>
              </a:ext>
            </a:extLst>
          </p:cNvPr>
          <p:cNvSpPr>
            <a:spLocks noGrp="1"/>
          </p:cNvSpPr>
          <p:nvPr>
            <p:ph type="title"/>
          </p:nvPr>
        </p:nvSpPr>
        <p:spPr>
          <a:xfrm>
            <a:off x="0" y="1"/>
            <a:ext cx="12192000" cy="1422399"/>
          </a:xfrm>
        </p:spPr>
        <p:txBody>
          <a:bodyPr/>
          <a:lstStyle/>
          <a:p>
            <a:r>
              <a:rPr lang="en-US" b="1" dirty="0">
                <a:solidFill>
                  <a:schemeClr val="bg1"/>
                </a:solidFill>
                <a:highlight>
                  <a:srgbClr val="800080"/>
                </a:highlight>
              </a:rPr>
              <a:t>Wages by Best Club in the World</a:t>
            </a:r>
            <a:endParaRPr lang="en-ZA" b="1" dirty="0">
              <a:solidFill>
                <a:schemeClr val="bg1"/>
              </a:solidFill>
              <a:highlight>
                <a:srgbClr val="800080"/>
              </a:highlight>
            </a:endParaRPr>
          </a:p>
        </p:txBody>
      </p:sp>
      <p:pic>
        <p:nvPicPr>
          <p:cNvPr id="5" name="Content Placeholder 4">
            <a:extLst>
              <a:ext uri="{FF2B5EF4-FFF2-40B4-BE49-F238E27FC236}">
                <a16:creationId xmlns:a16="http://schemas.microsoft.com/office/drawing/2014/main" id="{06802F03-468F-4A72-8B4B-B0CEBB1F26DC}"/>
              </a:ext>
            </a:extLst>
          </p:cNvPr>
          <p:cNvPicPr>
            <a:picLocks noGrp="1" noChangeAspect="1"/>
          </p:cNvPicPr>
          <p:nvPr>
            <p:ph idx="1"/>
          </p:nvPr>
        </p:nvPicPr>
        <p:blipFill>
          <a:blip r:embed="rId2"/>
          <a:stretch>
            <a:fillRect/>
          </a:stretch>
        </p:blipFill>
        <p:spPr>
          <a:xfrm>
            <a:off x="0" y="1185334"/>
            <a:ext cx="12191999" cy="5503334"/>
          </a:xfrm>
          <a:prstGeom prst="rect">
            <a:avLst/>
          </a:prstGeom>
        </p:spPr>
      </p:pic>
    </p:spTree>
    <p:extLst>
      <p:ext uri="{BB962C8B-B14F-4D97-AF65-F5344CB8AC3E}">
        <p14:creationId xmlns:p14="http://schemas.microsoft.com/office/powerpoint/2010/main" val="4053507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9CB1-C067-57DD-7D7C-6D6F5B11E1E2}"/>
              </a:ext>
            </a:extLst>
          </p:cNvPr>
          <p:cNvSpPr>
            <a:spLocks noGrp="1"/>
          </p:cNvSpPr>
          <p:nvPr>
            <p:ph type="title"/>
          </p:nvPr>
        </p:nvSpPr>
        <p:spPr>
          <a:xfrm>
            <a:off x="0" y="1"/>
            <a:ext cx="12192000" cy="1236132"/>
          </a:xfrm>
        </p:spPr>
        <p:txBody>
          <a:bodyPr/>
          <a:lstStyle/>
          <a:p>
            <a:r>
              <a:rPr lang="en-US" b="1" dirty="0">
                <a:solidFill>
                  <a:schemeClr val="bg1"/>
                </a:solidFill>
                <a:highlight>
                  <a:srgbClr val="800080"/>
                </a:highlight>
              </a:rPr>
              <a:t>Analysis of the Box Plot</a:t>
            </a:r>
            <a:endParaRPr lang="en-ZA" b="1" dirty="0">
              <a:solidFill>
                <a:schemeClr val="bg1"/>
              </a:solidFill>
              <a:highlight>
                <a:srgbClr val="800080"/>
              </a:highlight>
            </a:endParaRPr>
          </a:p>
        </p:txBody>
      </p:sp>
      <p:pic>
        <p:nvPicPr>
          <p:cNvPr id="5" name="Content Placeholder 4">
            <a:extLst>
              <a:ext uri="{FF2B5EF4-FFF2-40B4-BE49-F238E27FC236}">
                <a16:creationId xmlns:a16="http://schemas.microsoft.com/office/drawing/2014/main" id="{230A69F8-970A-A76A-E620-1F81953B399C}"/>
              </a:ext>
            </a:extLst>
          </p:cNvPr>
          <p:cNvPicPr>
            <a:picLocks noGrp="1" noChangeAspect="1"/>
          </p:cNvPicPr>
          <p:nvPr>
            <p:ph idx="1"/>
          </p:nvPr>
        </p:nvPicPr>
        <p:blipFill>
          <a:blip r:embed="rId2"/>
          <a:stretch>
            <a:fillRect/>
          </a:stretch>
        </p:blipFill>
        <p:spPr>
          <a:xfrm>
            <a:off x="0" y="999067"/>
            <a:ext cx="12192000" cy="5858931"/>
          </a:xfrm>
          <a:prstGeom prst="rect">
            <a:avLst/>
          </a:prstGeom>
        </p:spPr>
      </p:pic>
    </p:spTree>
    <p:extLst>
      <p:ext uri="{BB962C8B-B14F-4D97-AF65-F5344CB8AC3E}">
        <p14:creationId xmlns:p14="http://schemas.microsoft.com/office/powerpoint/2010/main" val="3239585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3369</TotalTime>
  <Words>1391</Words>
  <Application>Microsoft Office PowerPoint</Application>
  <PresentationFormat>Widescreen</PresentationFormat>
  <Paragraphs>94</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Calibri</vt:lpstr>
      <vt:lpstr>Office Theme</vt:lpstr>
      <vt:lpstr>FIFA 2018 Player Performance and Positional Analytics  Project Submission</vt:lpstr>
      <vt:lpstr>Rank ordered list of top 10 countries with most players.  Showing the countries  producing the most numbers of footballers that plays at this level</vt:lpstr>
      <vt:lpstr>Top ten countries by player count Sorted by total Players(Descending) </vt:lpstr>
      <vt:lpstr>      Overall Rating by Age</vt:lpstr>
      <vt:lpstr>Interpretation</vt:lpstr>
      <vt:lpstr>The Most  Paid Player Among LW, RW and ST </vt:lpstr>
      <vt:lpstr> Interpretation: Which Position Gets Paid the Most? </vt:lpstr>
      <vt:lpstr>Interpretation Continued</vt:lpstr>
      <vt:lpstr>Top 5 Players for every Preferred Position in Terms of Overall as well as Potential Points</vt:lpstr>
      <vt:lpstr>Continued</vt:lpstr>
      <vt:lpstr>Continued</vt:lpstr>
      <vt:lpstr>Analysis</vt:lpstr>
      <vt:lpstr>Continued</vt:lpstr>
      <vt:lpstr>Club With the maximum Share of Players from England</vt:lpstr>
      <vt:lpstr>Club(s) With the maximum Share of Players from Spain and Germany</vt:lpstr>
      <vt:lpstr>Analysis of Total and Average Players for Germany and Spain</vt:lpstr>
      <vt:lpstr>Analysis of Results, England, Spain and Germany</vt:lpstr>
      <vt:lpstr>Interpretation Continued</vt:lpstr>
      <vt:lpstr>The wages of a player influenced by the potential of a player</vt:lpstr>
      <vt:lpstr>The wages of a player influenced by the potential of a player</vt:lpstr>
      <vt:lpstr>Potential of a Player and Wages</vt:lpstr>
      <vt:lpstr>Potential of a Player and Wages Interpretation</vt:lpstr>
      <vt:lpstr>Continued</vt:lpstr>
      <vt:lpstr>Continued</vt:lpstr>
      <vt:lpstr> The Plot Aggression, Acceleration, Agility, Balance and Ball Control for strikers and Goal Keepers in a single line/Bar plot to understand the Positional Difference. </vt:lpstr>
      <vt:lpstr>Based on the positional data, players are profiled for different roles/classes. </vt:lpstr>
      <vt:lpstr>Continued</vt:lpstr>
      <vt:lpstr>Continued</vt:lpstr>
      <vt:lpstr>Clubs With the best future players</vt:lpstr>
      <vt:lpstr>Interpretation : Clubs having the best future players</vt:lpstr>
      <vt:lpstr>Interpretation Continued </vt:lpstr>
      <vt:lpstr>Interpretation Continued </vt:lpstr>
      <vt:lpstr>Wages by Best Club in the World</vt:lpstr>
      <vt:lpstr>Analysis of the Box Plot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Prefa</dc:creator>
  <cp:lastModifiedBy>Victor Prefa</cp:lastModifiedBy>
  <cp:revision>2</cp:revision>
  <dcterms:created xsi:type="dcterms:W3CDTF">2025-10-18T11:06:20Z</dcterms:created>
  <dcterms:modified xsi:type="dcterms:W3CDTF">2025-11-13T07:16:40Z</dcterms:modified>
</cp:coreProperties>
</file>